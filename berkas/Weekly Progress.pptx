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de713c50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de713c5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de713c50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de713c50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de713c50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de713c50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bde713c50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bde713c50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de713c50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de713c50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de713c502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de713c502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bde713c502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bde713c502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de713c502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bde713c502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bde713c502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bde713c502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de713c502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de713c502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e0ddf7ded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be0ddf7ded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be0ddf7ded_1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be0ddf7ded_1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e0ddf7ded_1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be0ddf7ded_1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bde713c502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bde713c502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bde713c502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bde713c502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bde713c502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bde713c502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de713c502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bde713c502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de713c502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bde713c502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bde713c502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bde713c502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3e396a3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3e396a3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c3e396a35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c3e396a35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c3e396a35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c3e396a35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c3e396a35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c3e396a35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BIMBINGAN 1</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GB"/>
              <a:t>Rabu 28 Januari 2026</a:t>
            </a:r>
            <a:endParaRPr/>
          </a:p>
          <a:p>
            <a:pPr indent="0" lvl="0" marL="0" rtl="0" algn="ctr">
              <a:spcBef>
                <a:spcPts val="0"/>
              </a:spcBef>
              <a:spcAft>
                <a:spcPts val="0"/>
              </a:spcAft>
              <a:buNone/>
            </a:pPr>
            <a:r>
              <a:rPr lang="en-GB"/>
              <a:t>ESEMPEHA Jago Nge Skripsi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Pertimbangan &amp; Opsi Topik</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AutoNum type="arabicPeriod"/>
            </a:pPr>
            <a:r>
              <a:rPr lang="en-GB">
                <a:solidFill>
                  <a:schemeClr val="dk1"/>
                </a:solidFill>
              </a:rPr>
              <a:t>Analisis Spatiotemporal Dampak Deforestasi terhadap Land Surface Temperature (LST) di Sumatra Menggunakan Pendekatan Deep Learning</a:t>
            </a:r>
            <a:endParaRPr>
              <a:solidFill>
                <a:schemeClr val="dk1"/>
              </a:solidFill>
            </a:endParaRPr>
          </a:p>
          <a:p>
            <a:pPr indent="0" lvl="0" marL="0" rtl="0" algn="l">
              <a:spcBef>
                <a:spcPts val="1200"/>
              </a:spcBef>
              <a:spcAft>
                <a:spcPts val="0"/>
              </a:spcAft>
              <a:buNone/>
            </a:pPr>
            <a:r>
              <a:t/>
            </a:r>
            <a:endParaRPr>
              <a:solidFill>
                <a:schemeClr val="dk1"/>
              </a:solidFill>
            </a:endParaRPr>
          </a:p>
          <a:p>
            <a:pPr indent="-342900" lvl="0" marL="457200" rtl="0" algn="l">
              <a:spcBef>
                <a:spcPts val="1200"/>
              </a:spcBef>
              <a:spcAft>
                <a:spcPts val="0"/>
              </a:spcAft>
              <a:buClr>
                <a:schemeClr val="dk1"/>
              </a:buClr>
              <a:buSzPts val="1800"/>
              <a:buAutoNum type="arabicPeriod"/>
            </a:pPr>
            <a:r>
              <a:rPr lang="en-GB">
                <a:solidFill>
                  <a:schemeClr val="dk1"/>
                </a:solidFill>
              </a:rPr>
              <a:t>Pemetaan Burned Area dan Fire Severity di Sumatera berbasis Sentinel-2 dengan Thresholding Indeks dan Deep Learning</a:t>
            </a:r>
            <a:endParaRPr>
              <a:solidFill>
                <a:schemeClr val="dk1"/>
              </a:solidFill>
            </a:endParaRPr>
          </a:p>
          <a:p>
            <a:pPr indent="0" lvl="0" marL="0" rtl="0" algn="l">
              <a:spcBef>
                <a:spcPts val="1200"/>
              </a:spcBef>
              <a:spcAft>
                <a:spcPts val="0"/>
              </a:spcAft>
              <a:buNone/>
            </a:pPr>
            <a:r>
              <a:t/>
            </a:r>
            <a:endParaRPr>
              <a:solidFill>
                <a:schemeClr val="dk1"/>
              </a:solidFill>
            </a:endParaRPr>
          </a:p>
          <a:p>
            <a:pPr indent="-342900" lvl="0" marL="457200" rtl="0" algn="l">
              <a:spcBef>
                <a:spcPts val="1200"/>
              </a:spcBef>
              <a:spcAft>
                <a:spcPts val="0"/>
              </a:spcAft>
              <a:buClr>
                <a:schemeClr val="dk1"/>
              </a:buClr>
              <a:buSzPts val="1800"/>
              <a:buAutoNum type="arabicPeriod"/>
            </a:pPr>
            <a:r>
              <a:rPr lang="en-GB">
                <a:solidFill>
                  <a:schemeClr val="dk1"/>
                </a:solidFill>
              </a:rPr>
              <a:t>Analisis Spatiotemporal Anomali Emisi Metana (CH4) pada Ekosistem Gambut yang Dikonversi Menjadi Perkebunan Kelapa Sawit di Sumatera Menggunakan Sentinel-5P TROPOMI</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2812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1720"/>
              <a:t>Analisis Spatiotemporal Dampak Deforestasi terhadap Land Surface Temperature (LST) di Sumatra Menggunakan Pendekatan Deep Learning</a:t>
            </a:r>
            <a:endParaRPr sz="1720"/>
          </a:p>
        </p:txBody>
      </p:sp>
      <p:sp>
        <p:nvSpPr>
          <p:cNvPr id="67" name="Google Shape;67;p15"/>
          <p:cNvSpPr txBox="1"/>
          <p:nvPr>
            <p:ph idx="1" type="body"/>
          </p:nvPr>
        </p:nvSpPr>
        <p:spPr>
          <a:xfrm>
            <a:off x="311700" y="1108775"/>
            <a:ext cx="8520600" cy="38490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b="1" lang="en-GB" sz="1100">
                <a:solidFill>
                  <a:schemeClr val="dk1"/>
                </a:solidFill>
              </a:rPr>
              <a:t>1. Latar Belakang &amp; Urgensi:</a:t>
            </a:r>
            <a:endParaRPr b="1" sz="1100">
              <a:solidFill>
                <a:schemeClr val="dk1"/>
              </a:solidFill>
            </a:endParaRPr>
          </a:p>
          <a:p>
            <a:pPr indent="-298450" lvl="0" marL="457200" rtl="0" algn="l">
              <a:lnSpc>
                <a:spcPct val="150000"/>
              </a:lnSpc>
              <a:spcBef>
                <a:spcPts val="1200"/>
              </a:spcBef>
              <a:spcAft>
                <a:spcPts val="0"/>
              </a:spcAft>
              <a:buClr>
                <a:schemeClr val="dk1"/>
              </a:buClr>
              <a:buSzPts val="1100"/>
              <a:buChar char="●"/>
            </a:pPr>
            <a:r>
              <a:rPr b="1" lang="en-GB" sz="1100">
                <a:solidFill>
                  <a:schemeClr val="dk1"/>
                </a:solidFill>
              </a:rPr>
              <a:t>Masalah Utama:</a:t>
            </a:r>
            <a:r>
              <a:rPr lang="en-GB" sz="1100">
                <a:solidFill>
                  <a:schemeClr val="dk1"/>
                </a:solidFill>
              </a:rPr>
              <a:t> Deforestasi masif di Sumatra mengubah karakteristik tutupan lahan secara drastis, menyebabkan perubahan mikroklimat yang ekstrem.</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b="1" lang="en-GB" sz="1100">
                <a:solidFill>
                  <a:schemeClr val="dk1"/>
                </a:solidFill>
              </a:rPr>
              <a:t>Keterbatasan Metode Konvensional:</a:t>
            </a:r>
            <a:r>
              <a:rPr lang="en-GB" sz="1100">
                <a:solidFill>
                  <a:schemeClr val="dk1"/>
                </a:solidFill>
              </a:rPr>
              <a:t> Pendekatan indeks spektral biasa (seperti </a:t>
            </a:r>
            <a:r>
              <a:rPr i="1" lang="en-GB" sz="1100">
                <a:solidFill>
                  <a:schemeClr val="dk1"/>
                </a:solidFill>
              </a:rPr>
              <a:t>thresholding</a:t>
            </a:r>
            <a:r>
              <a:rPr lang="en-GB" sz="1100">
                <a:solidFill>
                  <a:schemeClr val="dk1"/>
                </a:solidFill>
              </a:rPr>
              <a:t> NDVI/NDBI) seringkali </a:t>
            </a:r>
            <a:r>
              <a:rPr b="1" lang="en-GB" sz="1100">
                <a:solidFill>
                  <a:schemeClr val="dk1"/>
                </a:solidFill>
              </a:rPr>
              <a:t>kurang akurat</a:t>
            </a:r>
            <a:r>
              <a:rPr lang="en-GB" sz="1100">
                <a:solidFill>
                  <a:schemeClr val="dk1"/>
                </a:solidFill>
              </a:rPr>
              <a:t> dalam membedakan tutupan lahan kompleks di daerah tropis dibandingkan metode berbasis fitur (</a:t>
            </a:r>
            <a:r>
              <a:rPr i="1" lang="en-GB" sz="1100">
                <a:solidFill>
                  <a:schemeClr val="dk1"/>
                </a:solidFill>
              </a:rPr>
              <a:t>feature-based</a:t>
            </a:r>
            <a:r>
              <a:rPr lang="en-GB" sz="1100">
                <a:solidFill>
                  <a:schemeClr val="dk1"/>
                </a:solidFill>
              </a:rPr>
              <a:t>).</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b="1" lang="en-GB" sz="1100">
                <a:solidFill>
                  <a:schemeClr val="dk1"/>
                </a:solidFill>
              </a:rPr>
              <a:t>Research Gap:</a:t>
            </a:r>
            <a:r>
              <a:rPr lang="en-GB" sz="1100">
                <a:solidFill>
                  <a:schemeClr val="dk1"/>
                </a:solidFill>
              </a:rPr>
              <a:t> Studi terdahulu seringkali memisahkan analisis perubahan lahan dan suhu. Belum banyak integrasi </a:t>
            </a:r>
            <a:r>
              <a:rPr b="1" lang="en-GB" sz="1100">
                <a:solidFill>
                  <a:schemeClr val="dk1"/>
                </a:solidFill>
              </a:rPr>
              <a:t>Computer Vision</a:t>
            </a:r>
            <a:r>
              <a:rPr lang="en-GB" sz="1100">
                <a:solidFill>
                  <a:schemeClr val="dk1"/>
                </a:solidFill>
              </a:rPr>
              <a:t> untuk memodelkan korelasi spasial keduanya secara otomatis dan simultan.</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b="1" lang="en-GB" sz="1100">
                <a:solidFill>
                  <a:schemeClr val="dk1"/>
                </a:solidFill>
              </a:rPr>
              <a:t>Lingkup Wilayah:</a:t>
            </a:r>
            <a:r>
              <a:rPr lang="en-GB" sz="1100">
                <a:solidFill>
                  <a:schemeClr val="dk1"/>
                </a:solidFill>
              </a:rPr>
              <a:t> Studi kasus difokuskan pada area </a:t>
            </a:r>
            <a:r>
              <a:rPr i="1" lang="en-GB" sz="1100">
                <a:solidFill>
                  <a:schemeClr val="dk1"/>
                </a:solidFill>
              </a:rPr>
              <a:t>hotspot</a:t>
            </a:r>
            <a:r>
              <a:rPr lang="en-GB" sz="1100">
                <a:solidFill>
                  <a:schemeClr val="dk1"/>
                </a:solidFill>
              </a:rPr>
              <a:t> deforestasi di </a:t>
            </a:r>
            <a:r>
              <a:rPr b="1" lang="en-GB" sz="1100">
                <a:solidFill>
                  <a:schemeClr val="dk1"/>
                </a:solidFill>
              </a:rPr>
              <a:t>Pulau Sumatra (Riau/Jambi)</a:t>
            </a:r>
            <a:r>
              <a:rPr lang="en-GB" sz="1100">
                <a:solidFill>
                  <a:schemeClr val="dk1"/>
                </a:solidFill>
              </a:rPr>
              <a:t> menggunakan data </a:t>
            </a:r>
            <a:r>
              <a:rPr i="1" lang="en-GB" sz="1100">
                <a:solidFill>
                  <a:schemeClr val="dk1"/>
                </a:solidFill>
              </a:rPr>
              <a:t>Time-Series</a:t>
            </a:r>
            <a:r>
              <a:rPr lang="en-GB" sz="1100">
                <a:solidFill>
                  <a:schemeClr val="dk1"/>
                </a:solidFill>
              </a:rPr>
              <a:t>.</a:t>
            </a:r>
            <a:endParaRPr sz="1100">
              <a:solidFill>
                <a:schemeClr val="dk1"/>
              </a:solidFill>
            </a:endParaRPr>
          </a:p>
          <a:p>
            <a:pPr indent="0" lvl="0" marL="0" rtl="0" algn="l">
              <a:lnSpc>
                <a:spcPct val="150000"/>
              </a:lnSpc>
              <a:spcBef>
                <a:spcPts val="1200"/>
              </a:spcBef>
              <a:spcAft>
                <a:spcPts val="0"/>
              </a:spcAft>
              <a:buNone/>
            </a:pPr>
            <a:r>
              <a:rPr b="1" lang="en-GB" sz="1100">
                <a:solidFill>
                  <a:schemeClr val="dk1"/>
                </a:solidFill>
              </a:rPr>
              <a:t>2. Dataset &amp; Referensi:</a:t>
            </a:r>
            <a:endParaRPr b="1" sz="1100">
              <a:solidFill>
                <a:schemeClr val="dk1"/>
              </a:solidFill>
            </a:endParaRPr>
          </a:p>
          <a:p>
            <a:pPr indent="-298450" lvl="0" marL="457200" rtl="0" algn="l">
              <a:lnSpc>
                <a:spcPct val="150000"/>
              </a:lnSpc>
              <a:spcBef>
                <a:spcPts val="1200"/>
              </a:spcBef>
              <a:spcAft>
                <a:spcPts val="0"/>
              </a:spcAft>
              <a:buClr>
                <a:schemeClr val="dk1"/>
              </a:buClr>
              <a:buSzPts val="1100"/>
              <a:buChar char="●"/>
            </a:pPr>
            <a:r>
              <a:rPr b="1" lang="en-GB" sz="1100">
                <a:solidFill>
                  <a:schemeClr val="dk1"/>
                </a:solidFill>
              </a:rPr>
              <a:t>Citra Satelit:</a:t>
            </a:r>
            <a:r>
              <a:rPr lang="en-GB" sz="1100">
                <a:solidFill>
                  <a:schemeClr val="dk1"/>
                </a:solidFill>
              </a:rPr>
              <a:t> Landsat 8/9 (Optik &amp; Termal) untuk input model.</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b="1" lang="en-GB" sz="1100">
                <a:solidFill>
                  <a:schemeClr val="dk1"/>
                </a:solidFill>
              </a:rPr>
              <a:t>Ground Truth (Label):</a:t>
            </a:r>
            <a:r>
              <a:rPr lang="en-GB" sz="1100">
                <a:solidFill>
                  <a:schemeClr val="dk1"/>
                </a:solidFill>
              </a:rPr>
              <a:t> Menggunakan data </a:t>
            </a:r>
            <a:r>
              <a:rPr b="1" lang="en-GB" sz="1100">
                <a:solidFill>
                  <a:schemeClr val="dk1"/>
                </a:solidFill>
              </a:rPr>
              <a:t>ESA WorldCover / Peta KLHK</a:t>
            </a:r>
            <a:r>
              <a:rPr lang="en-GB" sz="1100">
                <a:solidFill>
                  <a:schemeClr val="dk1"/>
                </a:solidFill>
              </a:rPr>
              <a:t> sebagai target latih (</a:t>
            </a:r>
            <a:r>
              <a:rPr i="1" lang="en-GB" sz="1100">
                <a:solidFill>
                  <a:schemeClr val="dk1"/>
                </a:solidFill>
              </a:rPr>
              <a:t>training data</a:t>
            </a:r>
            <a:r>
              <a:rPr lang="en-GB" sz="1100">
                <a:solidFill>
                  <a:schemeClr val="dk1"/>
                </a:solidFill>
              </a:rPr>
              <a:t>) untuk segmentasi, menghindari proses </a:t>
            </a:r>
            <a:r>
              <a:rPr i="1" lang="en-GB" sz="1100">
                <a:solidFill>
                  <a:schemeClr val="dk1"/>
                </a:solidFill>
              </a:rPr>
              <a:t>labeling</a:t>
            </a:r>
            <a:r>
              <a:rPr lang="en-GB" sz="1100">
                <a:solidFill>
                  <a:schemeClr val="dk1"/>
                </a:solidFill>
              </a:rPr>
              <a:t> manual yang tidak efisien.</a:t>
            </a:r>
            <a:endParaRPr b="1" sz="11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2812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1720"/>
              <a:t>Analisis Spatiotemporal Dampak Deforestasi terhadap Land Surface Temperature (LST) di Sumatra Menggunakan Pendekatan Deep Learning</a:t>
            </a:r>
            <a:endParaRPr sz="1720"/>
          </a:p>
        </p:txBody>
      </p:sp>
      <p:sp>
        <p:nvSpPr>
          <p:cNvPr id="73" name="Google Shape;73;p16"/>
          <p:cNvSpPr txBox="1"/>
          <p:nvPr>
            <p:ph idx="1" type="body"/>
          </p:nvPr>
        </p:nvSpPr>
        <p:spPr>
          <a:xfrm>
            <a:off x="311700" y="1108775"/>
            <a:ext cx="8520600" cy="38490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b="1" lang="en-GB" sz="1100">
                <a:solidFill>
                  <a:schemeClr val="dk1"/>
                </a:solidFill>
              </a:rPr>
              <a:t>3. Hipotesis Teknis:</a:t>
            </a:r>
            <a:endParaRPr b="1" sz="1100">
              <a:solidFill>
                <a:schemeClr val="dk1"/>
              </a:solidFill>
            </a:endParaRPr>
          </a:p>
          <a:p>
            <a:pPr indent="-298450" lvl="0" marL="457200" rtl="0" algn="l">
              <a:lnSpc>
                <a:spcPct val="150000"/>
              </a:lnSpc>
              <a:spcBef>
                <a:spcPts val="1200"/>
              </a:spcBef>
              <a:spcAft>
                <a:spcPts val="0"/>
              </a:spcAft>
              <a:buClr>
                <a:schemeClr val="dk1"/>
              </a:buClr>
              <a:buSzPts val="1100"/>
              <a:buChar char="●"/>
            </a:pPr>
            <a:r>
              <a:rPr lang="en-GB" sz="1100">
                <a:solidFill>
                  <a:schemeClr val="dk1"/>
                </a:solidFill>
              </a:rPr>
              <a:t>Perubahan fitur visual pada citra optik (RGB) memiliki </a:t>
            </a:r>
            <a:r>
              <a:rPr b="1" lang="en-GB" sz="1100">
                <a:solidFill>
                  <a:schemeClr val="dk1"/>
                </a:solidFill>
              </a:rPr>
              <a:t>korelasi non-linear</a:t>
            </a:r>
            <a:r>
              <a:rPr lang="en-GB" sz="1100">
                <a:solidFill>
                  <a:schemeClr val="dk1"/>
                </a:solidFill>
              </a:rPr>
              <a:t> dengan peningkatan </a:t>
            </a:r>
            <a:r>
              <a:rPr i="1" lang="en-GB" sz="1100">
                <a:solidFill>
                  <a:schemeClr val="dk1"/>
                </a:solidFill>
              </a:rPr>
              <a:t>Land Surface Temperature</a:t>
            </a:r>
            <a:r>
              <a:rPr lang="en-GB" sz="1100">
                <a:solidFill>
                  <a:schemeClr val="dk1"/>
                </a:solidFill>
              </a:rPr>
              <a:t> (LST).</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i="1" lang="en-GB" sz="1100">
                <a:solidFill>
                  <a:schemeClr val="dk1"/>
                </a:solidFill>
              </a:rPr>
              <a:t>Deep Learning</a:t>
            </a:r>
            <a:r>
              <a:rPr lang="en-GB" sz="1100">
                <a:solidFill>
                  <a:schemeClr val="dk1"/>
                </a:solidFill>
              </a:rPr>
              <a:t> mampu menangkap pola spasial kompleks ini lebih baik daripada regresi linear sederhana.</a:t>
            </a:r>
            <a:endParaRPr sz="1100">
              <a:solidFill>
                <a:schemeClr val="dk1"/>
              </a:solidFill>
            </a:endParaRPr>
          </a:p>
          <a:p>
            <a:pPr indent="0" lvl="0" marL="0" rtl="0" algn="l">
              <a:lnSpc>
                <a:spcPct val="150000"/>
              </a:lnSpc>
              <a:spcBef>
                <a:spcPts val="1200"/>
              </a:spcBef>
              <a:spcAft>
                <a:spcPts val="0"/>
              </a:spcAft>
              <a:buNone/>
            </a:pPr>
            <a:r>
              <a:rPr b="1" lang="en-GB" sz="1100">
                <a:solidFill>
                  <a:schemeClr val="dk1"/>
                </a:solidFill>
              </a:rPr>
              <a:t>4. Tujuan Penelitian (Objectives):</a:t>
            </a:r>
            <a:endParaRPr b="1" sz="1100">
              <a:solidFill>
                <a:schemeClr val="dk1"/>
              </a:solidFill>
            </a:endParaRPr>
          </a:p>
          <a:p>
            <a:pPr indent="-298450" lvl="0" marL="457200" rtl="0" algn="l">
              <a:lnSpc>
                <a:spcPct val="150000"/>
              </a:lnSpc>
              <a:spcBef>
                <a:spcPts val="1200"/>
              </a:spcBef>
              <a:spcAft>
                <a:spcPts val="0"/>
              </a:spcAft>
              <a:buClr>
                <a:schemeClr val="dk1"/>
              </a:buClr>
              <a:buSzPts val="1100"/>
              <a:buChar char="●"/>
            </a:pPr>
            <a:r>
              <a:rPr b="1" lang="en-GB" sz="1100">
                <a:solidFill>
                  <a:schemeClr val="dk1"/>
                </a:solidFill>
              </a:rPr>
              <a:t>a. Model Segmentasi Presisi Tinggi:</a:t>
            </a:r>
            <a:r>
              <a:rPr lang="en-GB" sz="1100">
                <a:solidFill>
                  <a:schemeClr val="dk1"/>
                </a:solidFill>
              </a:rPr>
              <a:t> Mengembangkan model </a:t>
            </a:r>
            <a:r>
              <a:rPr i="1" lang="en-GB" sz="1100">
                <a:solidFill>
                  <a:schemeClr val="dk1"/>
                </a:solidFill>
              </a:rPr>
              <a:t>Deep Learning</a:t>
            </a:r>
            <a:r>
              <a:rPr lang="en-GB" sz="1100">
                <a:solidFill>
                  <a:schemeClr val="dk1"/>
                </a:solidFill>
              </a:rPr>
              <a:t> (e.g., U-Net/DeepLabV3+) untuk segmentasi semantik tutupan lahan dengan target akurasi (misal) </a:t>
            </a:r>
            <a:r>
              <a:rPr b="1" lang="en-GB" sz="1100">
                <a:solidFill>
                  <a:schemeClr val="dk1"/>
                </a:solidFill>
              </a:rPr>
              <a:t>mIoU &gt; 80%</a:t>
            </a:r>
            <a:r>
              <a:rPr lang="en-GB" sz="1100">
                <a:solidFill>
                  <a:schemeClr val="dk1"/>
                </a:solidFill>
              </a:rPr>
              <a:t>.</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b="1" lang="en-GB" sz="1100">
                <a:solidFill>
                  <a:schemeClr val="dk1"/>
                </a:solidFill>
              </a:rPr>
              <a:t>b. LST Estimation &amp; Super-Resolution:</a:t>
            </a:r>
            <a:r>
              <a:rPr lang="en-GB" sz="1100">
                <a:solidFill>
                  <a:schemeClr val="dk1"/>
                </a:solidFill>
              </a:rPr>
              <a:t> Menggunakan CNN untuk estimasi LST. </a:t>
            </a:r>
            <a:r>
              <a:rPr b="1" lang="en-GB" sz="1100">
                <a:solidFill>
                  <a:schemeClr val="dk1"/>
                </a:solidFill>
              </a:rPr>
              <a:t>Alasan penggunaan DL:</a:t>
            </a:r>
            <a:r>
              <a:rPr lang="en-GB" sz="1100">
                <a:solidFill>
                  <a:schemeClr val="dk1"/>
                </a:solidFill>
              </a:rPr>
              <a:t> Melakukan </a:t>
            </a:r>
            <a:r>
              <a:rPr i="1" lang="en-GB" sz="1100">
                <a:solidFill>
                  <a:schemeClr val="dk1"/>
                </a:solidFill>
              </a:rPr>
              <a:t>Downscaling/Super-resolution</a:t>
            </a:r>
            <a:r>
              <a:rPr lang="en-GB" sz="1100">
                <a:solidFill>
                  <a:schemeClr val="dk1"/>
                </a:solidFill>
              </a:rPr>
              <a:t> untuk memprediksi detail suhu dari fitur visual RGB resolusi tinggi (mengatasi resolusi rendah sensor Termal/TIRS) atau rekonstruksi data di area tertutup awan.</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b="1" lang="en-GB" sz="1100">
                <a:solidFill>
                  <a:schemeClr val="dk1"/>
                </a:solidFill>
              </a:rPr>
              <a:t>c. Kuantifikasi Dampak (Quantitative Goal):</a:t>
            </a:r>
            <a:r>
              <a:rPr lang="en-GB" sz="1100">
                <a:solidFill>
                  <a:schemeClr val="dk1"/>
                </a:solidFill>
              </a:rPr>
              <a:t> Menghasilkan rumusan dampak terukur: </a:t>
            </a:r>
            <a:r>
              <a:rPr b="1" i="1" lang="en-GB" sz="1100">
                <a:solidFill>
                  <a:schemeClr val="dk1"/>
                </a:solidFill>
              </a:rPr>
              <a:t>"Setiap X% penurunan vegetasi pada radius tertentu berkontribusi pada kenaikan suhu sebesar Y°C,"</a:t>
            </a:r>
            <a:r>
              <a:rPr b="1" lang="en-GB" sz="1100">
                <a:solidFill>
                  <a:schemeClr val="dk1"/>
                </a:solidFill>
              </a:rPr>
              <a:t> </a:t>
            </a:r>
            <a:r>
              <a:rPr lang="en-GB" sz="1100">
                <a:solidFill>
                  <a:schemeClr val="dk1"/>
                </a:solidFill>
              </a:rPr>
              <a:t>serta memetakan korelasi spasialnya. </a:t>
            </a:r>
            <a:r>
              <a:rPr lang="en-GB" sz="1100">
                <a:solidFill>
                  <a:schemeClr val="dk1"/>
                </a:solidFill>
              </a:rPr>
              <a:t>Menganalisis hubungan statistik (Uji Korelasi Pearson/Spearman) </a:t>
            </a:r>
            <a:endParaRPr b="1"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2812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1720"/>
              <a:t>Analisis Spatiotemporal Dampak Deforestasi terhadap Land Surface Temperature (LST) di Sumatra Menggunakan Pendekatan Deep Learning</a:t>
            </a:r>
            <a:endParaRPr sz="1720"/>
          </a:p>
        </p:txBody>
      </p:sp>
      <p:sp>
        <p:nvSpPr>
          <p:cNvPr id="79" name="Google Shape;79;p17"/>
          <p:cNvSpPr txBox="1"/>
          <p:nvPr>
            <p:ph idx="1" type="body"/>
          </p:nvPr>
        </p:nvSpPr>
        <p:spPr>
          <a:xfrm>
            <a:off x="311700" y="1108775"/>
            <a:ext cx="8520600" cy="38490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b="1" lang="en-GB" sz="1100">
                <a:solidFill>
                  <a:schemeClr val="dk1"/>
                </a:solidFill>
              </a:rPr>
              <a:t>5. Pembagian Peran &amp; Lingkup Teknis:</a:t>
            </a:r>
            <a:endParaRPr b="1" sz="1100">
              <a:solidFill>
                <a:schemeClr val="dk1"/>
              </a:solidFill>
            </a:endParaRPr>
          </a:p>
          <a:p>
            <a:pPr indent="-298450" lvl="0" marL="457200" rtl="0" algn="l">
              <a:lnSpc>
                <a:spcPct val="150000"/>
              </a:lnSpc>
              <a:spcBef>
                <a:spcPts val="1200"/>
              </a:spcBef>
              <a:spcAft>
                <a:spcPts val="0"/>
              </a:spcAft>
              <a:buClr>
                <a:schemeClr val="dk1"/>
              </a:buClr>
              <a:buSzPts val="1100"/>
              <a:buChar char="●"/>
            </a:pPr>
            <a:r>
              <a:rPr b="1" lang="en-GB" sz="1100">
                <a:solidFill>
                  <a:schemeClr val="dk1"/>
                </a:solidFill>
              </a:rPr>
              <a:t>Anggota 1: Computer Vision (Semantic Segmentation)</a:t>
            </a:r>
            <a:endParaRPr b="1" sz="1100">
              <a:solidFill>
                <a:schemeClr val="dk1"/>
              </a:solidFill>
            </a:endParaRPr>
          </a:p>
          <a:p>
            <a:pPr indent="-298450" lvl="1" marL="914400" rtl="0" algn="l">
              <a:lnSpc>
                <a:spcPct val="150000"/>
              </a:lnSpc>
              <a:spcBef>
                <a:spcPts val="0"/>
              </a:spcBef>
              <a:spcAft>
                <a:spcPts val="0"/>
              </a:spcAft>
              <a:buClr>
                <a:schemeClr val="dk1"/>
              </a:buClr>
              <a:buSzPts val="1100"/>
              <a:buChar char="○"/>
            </a:pPr>
            <a:r>
              <a:rPr lang="en-GB" sz="1100">
                <a:solidFill>
                  <a:schemeClr val="dk1"/>
                </a:solidFill>
              </a:rPr>
              <a:t>Preprocessing data citra (tiling, augmentasi), </a:t>
            </a:r>
            <a:endParaRPr sz="1100">
              <a:solidFill>
                <a:schemeClr val="dk1"/>
              </a:solidFill>
            </a:endParaRPr>
          </a:p>
          <a:p>
            <a:pPr indent="-298450" lvl="1" marL="914400" rtl="0" algn="l">
              <a:lnSpc>
                <a:spcPct val="150000"/>
              </a:lnSpc>
              <a:spcBef>
                <a:spcPts val="0"/>
              </a:spcBef>
              <a:spcAft>
                <a:spcPts val="0"/>
              </a:spcAft>
              <a:buClr>
                <a:schemeClr val="dk1"/>
              </a:buClr>
              <a:buSzPts val="1100"/>
              <a:buChar char="○"/>
            </a:pPr>
            <a:r>
              <a:rPr lang="en-GB" sz="1100">
                <a:solidFill>
                  <a:schemeClr val="dk1"/>
                </a:solidFill>
              </a:rPr>
              <a:t>akuisisi label dari ESA WorldCover, serta </a:t>
            </a:r>
            <a:endParaRPr sz="1100">
              <a:solidFill>
                <a:schemeClr val="dk1"/>
              </a:solidFill>
            </a:endParaRPr>
          </a:p>
          <a:p>
            <a:pPr indent="-298450" lvl="1" marL="914400" rtl="0" algn="l">
              <a:lnSpc>
                <a:spcPct val="150000"/>
              </a:lnSpc>
              <a:spcBef>
                <a:spcPts val="0"/>
              </a:spcBef>
              <a:spcAft>
                <a:spcPts val="0"/>
              </a:spcAft>
              <a:buClr>
                <a:schemeClr val="dk1"/>
              </a:buClr>
              <a:buSzPts val="1100"/>
              <a:buChar char="○"/>
            </a:pPr>
            <a:r>
              <a:rPr lang="en-GB" sz="1100">
                <a:solidFill>
                  <a:schemeClr val="dk1"/>
                </a:solidFill>
              </a:rPr>
              <a:t>pelatihan model segmentasi untuk mendeteksi perubahan tutupan lahan (</a:t>
            </a:r>
            <a:r>
              <a:rPr i="1" lang="en-GB" sz="1100">
                <a:solidFill>
                  <a:schemeClr val="dk1"/>
                </a:solidFill>
              </a:rPr>
              <a:t>Vegetation Loss</a:t>
            </a:r>
            <a:r>
              <a:rPr lang="en-GB" sz="1100">
                <a:solidFill>
                  <a:schemeClr val="dk1"/>
                </a:solidFill>
              </a:rPr>
              <a:t>) dengan akurasi optimal.</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b="1" lang="en-GB" sz="1100">
                <a:solidFill>
                  <a:schemeClr val="dk1"/>
                </a:solidFill>
              </a:rPr>
              <a:t>Anggota 2: Deep Learning Architecture (LST Modeling)</a:t>
            </a:r>
            <a:endParaRPr b="1" sz="1100">
              <a:solidFill>
                <a:schemeClr val="dk1"/>
              </a:solidFill>
            </a:endParaRPr>
          </a:p>
          <a:p>
            <a:pPr indent="-298450" lvl="1" marL="914400" rtl="0" algn="l">
              <a:lnSpc>
                <a:spcPct val="150000"/>
              </a:lnSpc>
              <a:spcBef>
                <a:spcPts val="0"/>
              </a:spcBef>
              <a:spcAft>
                <a:spcPts val="0"/>
              </a:spcAft>
              <a:buClr>
                <a:schemeClr val="dk1"/>
              </a:buClr>
              <a:buSzPts val="1100"/>
              <a:buChar char="○"/>
            </a:pPr>
            <a:r>
              <a:rPr lang="en-GB" sz="1100">
                <a:solidFill>
                  <a:schemeClr val="dk1"/>
                </a:solidFill>
              </a:rPr>
              <a:t>Merancang arsitektur CNN/ViT untuk regresi suhu. </a:t>
            </a:r>
            <a:endParaRPr sz="1100">
              <a:solidFill>
                <a:schemeClr val="dk1"/>
              </a:solidFill>
            </a:endParaRPr>
          </a:p>
          <a:p>
            <a:pPr indent="-298450" lvl="1" marL="914400" rtl="0" algn="l">
              <a:lnSpc>
                <a:spcPct val="150000"/>
              </a:lnSpc>
              <a:spcBef>
                <a:spcPts val="0"/>
              </a:spcBef>
              <a:spcAft>
                <a:spcPts val="0"/>
              </a:spcAft>
              <a:buClr>
                <a:schemeClr val="dk1"/>
              </a:buClr>
              <a:buSzPts val="1100"/>
              <a:buChar char="○"/>
            </a:pPr>
            <a:r>
              <a:rPr lang="en-GB" sz="1100">
                <a:solidFill>
                  <a:schemeClr val="dk1"/>
                </a:solidFill>
              </a:rPr>
              <a:t>Fokus pada tugas </a:t>
            </a:r>
            <a:r>
              <a:rPr i="1" lang="en-GB" sz="1100">
                <a:solidFill>
                  <a:schemeClr val="dk1"/>
                </a:solidFill>
              </a:rPr>
              <a:t>Super-Resolution</a:t>
            </a:r>
            <a:r>
              <a:rPr lang="en-GB" sz="1100">
                <a:solidFill>
                  <a:schemeClr val="dk1"/>
                </a:solidFill>
              </a:rPr>
              <a:t> LST atau rekonstruksi data termal,</a:t>
            </a:r>
            <a:endParaRPr sz="1100">
              <a:solidFill>
                <a:schemeClr val="dk1"/>
              </a:solidFill>
            </a:endParaRPr>
          </a:p>
          <a:p>
            <a:pPr indent="-298450" lvl="1" marL="914400" rtl="0" algn="l">
              <a:lnSpc>
                <a:spcPct val="150000"/>
              </a:lnSpc>
              <a:spcBef>
                <a:spcPts val="0"/>
              </a:spcBef>
              <a:spcAft>
                <a:spcPts val="0"/>
              </a:spcAft>
              <a:buClr>
                <a:schemeClr val="dk1"/>
              </a:buClr>
              <a:buSzPts val="1100"/>
              <a:buChar char="○"/>
            </a:pPr>
            <a:r>
              <a:rPr lang="en-GB" sz="1100">
                <a:solidFill>
                  <a:schemeClr val="dk1"/>
                </a:solidFill>
              </a:rPr>
              <a:t>Validasi hasil prediksi terhadap data sensor asli (TIRS).</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b="1" lang="en-GB" sz="1100">
                <a:solidFill>
                  <a:schemeClr val="dk1"/>
                </a:solidFill>
              </a:rPr>
              <a:t>Anggota 3: Spatial Data Analysis &amp; Correlation</a:t>
            </a:r>
            <a:endParaRPr b="1" sz="1100">
              <a:solidFill>
                <a:schemeClr val="dk1"/>
              </a:solidFill>
            </a:endParaRPr>
          </a:p>
          <a:p>
            <a:pPr indent="-298450" lvl="1" marL="914400" rtl="0" algn="l">
              <a:lnSpc>
                <a:spcPct val="150000"/>
              </a:lnSpc>
              <a:spcBef>
                <a:spcPts val="0"/>
              </a:spcBef>
              <a:spcAft>
                <a:spcPts val="0"/>
              </a:spcAft>
              <a:buClr>
                <a:schemeClr val="dk1"/>
              </a:buClr>
              <a:buSzPts val="1100"/>
              <a:buChar char="○"/>
            </a:pPr>
            <a:r>
              <a:rPr lang="en-GB" sz="1100">
                <a:solidFill>
                  <a:schemeClr val="dk1"/>
                </a:solidFill>
              </a:rPr>
              <a:t>Analisis perubahan temporal (</a:t>
            </a:r>
            <a:r>
              <a:rPr i="1" lang="en-GB" sz="1100">
                <a:solidFill>
                  <a:schemeClr val="dk1"/>
                </a:solidFill>
              </a:rPr>
              <a:t>Change Detection</a:t>
            </a:r>
            <a:r>
              <a:rPr lang="en-GB" sz="1100">
                <a:solidFill>
                  <a:schemeClr val="dk1"/>
                </a:solidFill>
              </a:rPr>
              <a:t>), </a:t>
            </a:r>
            <a:endParaRPr sz="1100">
              <a:solidFill>
                <a:schemeClr val="dk1"/>
              </a:solidFill>
            </a:endParaRPr>
          </a:p>
          <a:p>
            <a:pPr indent="-298450" lvl="1" marL="914400" rtl="0" algn="l">
              <a:lnSpc>
                <a:spcPct val="150000"/>
              </a:lnSpc>
              <a:spcBef>
                <a:spcPts val="0"/>
              </a:spcBef>
              <a:spcAft>
                <a:spcPts val="0"/>
              </a:spcAft>
              <a:buClr>
                <a:schemeClr val="dk1"/>
              </a:buClr>
              <a:buSzPts val="1100"/>
              <a:buChar char="○"/>
            </a:pPr>
            <a:r>
              <a:rPr lang="en-GB" sz="1100">
                <a:solidFill>
                  <a:schemeClr val="dk1"/>
                </a:solidFill>
              </a:rPr>
              <a:t>Menghitung korelasi statistik (Pearson/Spearman) antara peta deforestasi dan peta LST,</a:t>
            </a:r>
            <a:endParaRPr sz="1100">
              <a:solidFill>
                <a:schemeClr val="dk1"/>
              </a:solidFill>
            </a:endParaRPr>
          </a:p>
          <a:p>
            <a:pPr indent="-298450" lvl="1" marL="914400" rtl="0" algn="l">
              <a:lnSpc>
                <a:spcPct val="150000"/>
              </a:lnSpc>
              <a:spcBef>
                <a:spcPts val="0"/>
              </a:spcBef>
              <a:spcAft>
                <a:spcPts val="0"/>
              </a:spcAft>
              <a:buClr>
                <a:schemeClr val="dk1"/>
              </a:buClr>
              <a:buSzPts val="1100"/>
              <a:buChar char="○"/>
            </a:pPr>
            <a:r>
              <a:rPr lang="en-GB" sz="1100">
                <a:solidFill>
                  <a:schemeClr val="dk1"/>
                </a:solidFill>
              </a:rPr>
              <a:t>Visualisasi dampak "Urban Heat Island" effect.</a:t>
            </a:r>
            <a:endParaRPr b="1" sz="1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3" name="Shape 83"/>
        <p:cNvGrpSpPr/>
        <p:nvPr/>
      </p:nvGrpSpPr>
      <p:grpSpPr>
        <a:xfrm>
          <a:off x="0" y="0"/>
          <a:ext cx="0" cy="0"/>
          <a:chOff x="0" y="0"/>
          <a:chExt cx="0" cy="0"/>
        </a:xfrm>
      </p:grpSpPr>
      <p:pic>
        <p:nvPicPr>
          <p:cNvPr descr="Beautify this slide" id="84" name="Google Shape;84;p18"/>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 name="Shape 88"/>
        <p:cNvGrpSpPr/>
        <p:nvPr/>
      </p:nvGrpSpPr>
      <p:grpSpPr>
        <a:xfrm>
          <a:off x="0" y="0"/>
          <a:ext cx="0" cy="0"/>
          <a:chOff x="0" y="0"/>
          <a:chExt cx="0" cy="0"/>
        </a:xfrm>
      </p:grpSpPr>
      <p:pic>
        <p:nvPicPr>
          <p:cNvPr descr="Beautify this slide" id="89" name="Google Shape;89;p19"/>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 name="Shape 93"/>
        <p:cNvGrpSpPr/>
        <p:nvPr/>
      </p:nvGrpSpPr>
      <p:grpSpPr>
        <a:xfrm>
          <a:off x="0" y="0"/>
          <a:ext cx="0" cy="0"/>
          <a:chOff x="0" y="0"/>
          <a:chExt cx="0" cy="0"/>
        </a:xfrm>
      </p:grpSpPr>
      <p:pic>
        <p:nvPicPr>
          <p:cNvPr descr="Beautify this slide" id="94" name="Google Shape;94;p20"/>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1"/>
          <p:cNvSpPr txBox="1"/>
          <p:nvPr>
            <p:ph type="title"/>
          </p:nvPr>
        </p:nvSpPr>
        <p:spPr>
          <a:xfrm>
            <a:off x="311700" y="2812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1720"/>
              <a:t>Pemetaan Burned Area dan Fire Severity di Sumatera berbasis Sentinel-2 dengan Thresholding Indeks dan Deep Learning</a:t>
            </a:r>
            <a:endParaRPr sz="1720"/>
          </a:p>
        </p:txBody>
      </p:sp>
      <p:sp>
        <p:nvSpPr>
          <p:cNvPr id="100" name="Google Shape;100;p21"/>
          <p:cNvSpPr txBox="1"/>
          <p:nvPr>
            <p:ph idx="1" type="body"/>
          </p:nvPr>
        </p:nvSpPr>
        <p:spPr>
          <a:xfrm>
            <a:off x="311700" y="1108775"/>
            <a:ext cx="8520600" cy="3849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GB" sz="1100">
                <a:solidFill>
                  <a:schemeClr val="dk1"/>
                </a:solidFill>
              </a:rPr>
              <a:t>1. Latar Belakang &amp; Urgensi:</a:t>
            </a:r>
            <a:endParaRPr b="1" sz="1100">
              <a:solidFill>
                <a:schemeClr val="dk1"/>
              </a:solidFill>
            </a:endParaRPr>
          </a:p>
          <a:p>
            <a:pPr indent="-298450" lvl="0" marL="457200" rtl="0" algn="l">
              <a:spcBef>
                <a:spcPts val="1200"/>
              </a:spcBef>
              <a:spcAft>
                <a:spcPts val="0"/>
              </a:spcAft>
              <a:buClr>
                <a:schemeClr val="dk1"/>
              </a:buClr>
              <a:buSzPts val="1100"/>
              <a:buChar char="●"/>
            </a:pPr>
            <a:r>
              <a:rPr b="1" lang="en-GB" sz="1100">
                <a:solidFill>
                  <a:schemeClr val="dk1"/>
                </a:solidFill>
              </a:rPr>
              <a:t>Masalah Utama:</a:t>
            </a:r>
            <a:r>
              <a:rPr lang="en-GB" sz="1100">
                <a:solidFill>
                  <a:schemeClr val="dk1"/>
                </a:solidFill>
              </a:rPr>
              <a:t> Kekeringan meningkatkan risiko kebakaran → perlu peta burned area &amp; severity untuk monitoring/restorasi.</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Keterbatasan Metode Konvensional:</a:t>
            </a:r>
            <a:r>
              <a:rPr lang="en-GB" sz="1100">
                <a:solidFill>
                  <a:schemeClr val="dk1"/>
                </a:solidFill>
              </a:rPr>
              <a:t> </a:t>
            </a:r>
            <a:r>
              <a:rPr lang="en-GB" sz="1100">
                <a:solidFill>
                  <a:schemeClr val="dk1"/>
                </a:solidFill>
              </a:rPr>
              <a:t>Burned area sering dideteksi pakai thresholding indeks (cepat, tapi rawan false/missed alarm).</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Research Gap:</a:t>
            </a:r>
            <a:r>
              <a:rPr lang="en-GB" sz="1100">
                <a:solidFill>
                  <a:schemeClr val="dk1"/>
                </a:solidFill>
              </a:rPr>
              <a:t> </a:t>
            </a:r>
            <a:r>
              <a:rPr lang="en-GB" sz="1100">
                <a:solidFill>
                  <a:schemeClr val="dk1"/>
                </a:solidFill>
              </a:rPr>
              <a:t>Studi menunjukkan indeks severity &amp; vegetasi efektif untuk dampak kebakaran/recovery (Rahman et al., 2019), tapi benchmark thresholding vs segmentation DL pada konteks gambut tropis masih jarang.</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Wilayah</a:t>
            </a:r>
            <a:r>
              <a:rPr lang="en-GB" sz="1100">
                <a:solidFill>
                  <a:schemeClr val="dk1"/>
                </a:solidFill>
              </a:rPr>
              <a:t>: Fokus provinsi di Sumatera yang punya gambut luas (area prioritas kebakaran berulang).</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Referensi Paper</a:t>
            </a:r>
            <a:r>
              <a:rPr lang="en-GB" sz="1100">
                <a:solidFill>
                  <a:schemeClr val="dk1"/>
                </a:solidFill>
              </a:rPr>
              <a:t>:</a:t>
            </a:r>
            <a:endParaRPr sz="1100">
              <a:solidFill>
                <a:schemeClr val="dk1"/>
              </a:solidFill>
            </a:endParaRPr>
          </a:p>
          <a:p>
            <a:pPr indent="-298450" lvl="1" marL="914400" rtl="0" algn="l">
              <a:spcBef>
                <a:spcPts val="0"/>
              </a:spcBef>
              <a:spcAft>
                <a:spcPts val="0"/>
              </a:spcAft>
              <a:buClr>
                <a:schemeClr val="dk1"/>
              </a:buClr>
              <a:buSzPts val="1100"/>
              <a:buAutoNum type="alphaLcPeriod"/>
            </a:pPr>
            <a:r>
              <a:rPr lang="en-GB" sz="1100">
                <a:solidFill>
                  <a:schemeClr val="dk1"/>
                </a:solidFill>
              </a:rPr>
              <a:t>Large-scale burn severity mapping in multispectral imagery using deep semantic segmentation models (Hu et al. 2023)</a:t>
            </a:r>
            <a:endParaRPr sz="1100">
              <a:solidFill>
                <a:schemeClr val="dk1"/>
              </a:solidFill>
            </a:endParaRPr>
          </a:p>
          <a:p>
            <a:pPr indent="-298450" lvl="1" marL="914400" rtl="0" algn="l">
              <a:spcBef>
                <a:spcPts val="0"/>
              </a:spcBef>
              <a:spcAft>
                <a:spcPts val="0"/>
              </a:spcAft>
              <a:buClr>
                <a:schemeClr val="dk1"/>
              </a:buClr>
              <a:buSzPts val="1100"/>
              <a:buAutoNum type="alphaLcPeriod"/>
            </a:pPr>
            <a:r>
              <a:rPr lang="en-GB" sz="1100">
                <a:solidFill>
                  <a:schemeClr val="dk1"/>
                </a:solidFill>
              </a:rPr>
              <a:t>Spatio-Temporal Assessment of Fire Severity and Vegetation Recovery </a:t>
            </a:r>
            <a:r>
              <a:rPr lang="en-GB" sz="1100">
                <a:solidFill>
                  <a:schemeClr val="dk1"/>
                </a:solidFill>
              </a:rPr>
              <a:t>Utilising</a:t>
            </a:r>
            <a:r>
              <a:rPr lang="en-GB" sz="1100">
                <a:solidFill>
                  <a:schemeClr val="dk1"/>
                </a:solidFill>
              </a:rPr>
              <a:t> Sentinel-2 Imagery in New South Wales, Australia (Herman et al., 2019)</a:t>
            </a:r>
            <a:endParaRPr sz="1100">
              <a:solidFill>
                <a:schemeClr val="dk1"/>
              </a:solidFill>
            </a:endParaRPr>
          </a:p>
          <a:p>
            <a:pPr indent="0" lvl="0" marL="0" rtl="0" algn="l">
              <a:spcBef>
                <a:spcPts val="1200"/>
              </a:spcBef>
              <a:spcAft>
                <a:spcPts val="0"/>
              </a:spcAft>
              <a:buNone/>
            </a:pPr>
            <a:r>
              <a:rPr b="1" lang="en-GB" sz="1100">
                <a:solidFill>
                  <a:schemeClr val="dk1"/>
                </a:solidFill>
              </a:rPr>
              <a:t>2. Dataset &amp; Referensi:</a:t>
            </a:r>
            <a:endParaRPr b="1" sz="1100">
              <a:solidFill>
                <a:schemeClr val="dk1"/>
              </a:solidFill>
            </a:endParaRPr>
          </a:p>
          <a:p>
            <a:pPr indent="-298450" lvl="0" marL="457200" rtl="0" algn="l">
              <a:spcBef>
                <a:spcPts val="1200"/>
              </a:spcBef>
              <a:spcAft>
                <a:spcPts val="0"/>
              </a:spcAft>
              <a:buClr>
                <a:schemeClr val="dk1"/>
              </a:buClr>
              <a:buSzPts val="1100"/>
              <a:buChar char="●"/>
            </a:pPr>
            <a:r>
              <a:rPr b="1" lang="en-GB" sz="1100">
                <a:solidFill>
                  <a:schemeClr val="dk1"/>
                </a:solidFill>
              </a:rPr>
              <a:t>Citra Satelit:</a:t>
            </a:r>
            <a:r>
              <a:rPr lang="en-GB" sz="1100">
                <a:solidFill>
                  <a:schemeClr val="dk1"/>
                </a:solidFill>
              </a:rPr>
              <a:t> </a:t>
            </a:r>
            <a:r>
              <a:rPr lang="en-GB" sz="1100">
                <a:solidFill>
                  <a:schemeClr val="dk1"/>
                </a:solidFill>
              </a:rPr>
              <a:t>Citra Sentinel-2 L2A</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Band Utama: </a:t>
            </a:r>
            <a:r>
              <a:rPr lang="en-GB" sz="1100">
                <a:solidFill>
                  <a:schemeClr val="dk1"/>
                </a:solidFill>
              </a:rPr>
              <a:t>B2, B3, B4 (Visible), B8 (NIR), B11, B12 (SWIR).</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Indeks:</a:t>
            </a:r>
            <a:r>
              <a:rPr lang="en-GB" sz="1100">
                <a:solidFill>
                  <a:schemeClr val="dk1"/>
                </a:solidFill>
              </a:rPr>
              <a:t> dNBR/RBR/RdNBR, MIRBI + indeks vegetasi (dNDVI/NDRE) untuk analisis severity &amp; recovery.</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Ground Truth (Label):</a:t>
            </a:r>
            <a:r>
              <a:rPr lang="en-GB" sz="1100">
                <a:solidFill>
                  <a:schemeClr val="dk1"/>
                </a:solidFill>
              </a:rPr>
              <a:t> D</a:t>
            </a:r>
            <a:r>
              <a:rPr lang="en-GB" sz="1100">
                <a:solidFill>
                  <a:schemeClr val="dk1"/>
                </a:solidFill>
              </a:rPr>
              <a:t>ata resmi dari Sipongi (KLHK) atau FIRMS (NASA) sebagai titik awal lokasi api (hotspot)</a:t>
            </a:r>
            <a:endParaRPr b="1" sz="11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2"/>
          <p:cNvSpPr txBox="1"/>
          <p:nvPr>
            <p:ph type="title"/>
          </p:nvPr>
        </p:nvSpPr>
        <p:spPr>
          <a:xfrm>
            <a:off x="311700" y="2812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GB" sz="1720"/>
              <a:t>Pemetaan Burned Area dan Fire Severity di Sumatera berbasis Sentinel-2 dengan Thresholding Indeks dan Deep Learning</a:t>
            </a:r>
            <a:endParaRPr sz="1720"/>
          </a:p>
        </p:txBody>
      </p:sp>
      <p:sp>
        <p:nvSpPr>
          <p:cNvPr id="106" name="Google Shape;106;p22"/>
          <p:cNvSpPr txBox="1"/>
          <p:nvPr>
            <p:ph idx="1" type="body"/>
          </p:nvPr>
        </p:nvSpPr>
        <p:spPr>
          <a:xfrm>
            <a:off x="311700" y="1108775"/>
            <a:ext cx="8520600" cy="3849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GB" sz="1100">
                <a:solidFill>
                  <a:schemeClr val="dk1"/>
                </a:solidFill>
              </a:rPr>
              <a:t>3. Hipotesis Teknis:</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NIR+SWIR membantu deteksi burned area dibanding RGB saja.</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Semantic segmentation lebih dapat menangkap patch/boundary burned area dibanding thresholding indeks.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Kombinasi band tertentu (mis. RGB+NIR+SWIR) memberi performa terbaik.</a:t>
            </a:r>
            <a:endParaRPr sz="1100">
              <a:solidFill>
                <a:schemeClr val="dk1"/>
              </a:solidFill>
            </a:endParaRPr>
          </a:p>
          <a:p>
            <a:pPr indent="0" lvl="0" marL="0" rtl="0" algn="l">
              <a:spcBef>
                <a:spcPts val="1200"/>
              </a:spcBef>
              <a:spcAft>
                <a:spcPts val="0"/>
              </a:spcAft>
              <a:buNone/>
            </a:pPr>
            <a:r>
              <a:rPr b="1" lang="en-GB" sz="1100">
                <a:solidFill>
                  <a:schemeClr val="dk1"/>
                </a:solidFill>
              </a:rPr>
              <a:t>4. Tujuan Penelitian (Objectives):</a:t>
            </a:r>
            <a:endParaRPr b="1" sz="1100">
              <a:solidFill>
                <a:schemeClr val="dk1"/>
              </a:solidFill>
            </a:endParaRPr>
          </a:p>
          <a:p>
            <a:pPr indent="-298450" lvl="0" marL="457200" rtl="0" algn="l">
              <a:spcBef>
                <a:spcPts val="1200"/>
              </a:spcBef>
              <a:spcAft>
                <a:spcPts val="0"/>
              </a:spcAft>
              <a:buClr>
                <a:schemeClr val="dk1"/>
              </a:buClr>
              <a:buSzPts val="1100"/>
              <a:buChar char="●"/>
            </a:pPr>
            <a:r>
              <a:rPr b="1" lang="en-GB" sz="1100">
                <a:solidFill>
                  <a:schemeClr val="dk1"/>
                </a:solidFill>
              </a:rPr>
              <a:t>a. </a:t>
            </a:r>
            <a:r>
              <a:rPr b="1" lang="en-GB" sz="1100">
                <a:solidFill>
                  <a:schemeClr val="dk1"/>
                </a:solidFill>
              </a:rPr>
              <a:t>Benchmark Burned Area Mapping: </a:t>
            </a:r>
            <a:r>
              <a:rPr lang="en-GB" sz="1100">
                <a:solidFill>
                  <a:schemeClr val="dk1"/>
                </a:solidFill>
              </a:rPr>
              <a:t>Mengembangkan baseline thresholding indeks burned area/fire severity (mis. dNBR, RBR, RdNBR, MIRBI) untuk pemetaan burned area pada gambut Sumatera sebagai pembanding utama.</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b. </a:t>
            </a:r>
            <a:r>
              <a:rPr b="1" lang="en-GB" sz="1100">
                <a:solidFill>
                  <a:schemeClr val="dk1"/>
                </a:solidFill>
              </a:rPr>
              <a:t>Model Segmentasi Presisi Tinggi: </a:t>
            </a:r>
            <a:r>
              <a:rPr lang="en-GB" sz="1100">
                <a:solidFill>
                  <a:schemeClr val="dk1"/>
                </a:solidFill>
              </a:rPr>
              <a:t>Mengembangkan model Deep Semantic Segmentation (mis. U-Net/DeepLabV3+) untuk klasifikasi pixel-level burned vs unburned (opsional: multi-kelas severity), dengan target performa (mis.) mIoU &gt; 0.80 atau peningkatan signifikan dibanding baseline.</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c. </a:t>
            </a:r>
            <a:r>
              <a:rPr b="1" lang="en-GB" sz="1100">
                <a:solidFill>
                  <a:schemeClr val="dk1"/>
                </a:solidFill>
              </a:rPr>
              <a:t>Multispectral Ablation (Kontribusi Band): </a:t>
            </a:r>
            <a:r>
              <a:rPr lang="en-GB" sz="1100">
                <a:solidFill>
                  <a:schemeClr val="dk1"/>
                </a:solidFill>
              </a:rPr>
              <a:t>Membuktikan kontribusi band RGB vs RGB+NIR vs RGB+NIR+SWIR terhadap performa segmentasi, serta merumuskan dampak terukur</a:t>
            </a:r>
            <a:endParaRPr sz="11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3"/>
          <p:cNvSpPr txBox="1"/>
          <p:nvPr>
            <p:ph type="title"/>
          </p:nvPr>
        </p:nvSpPr>
        <p:spPr>
          <a:xfrm>
            <a:off x="311700" y="2812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GB" sz="1720"/>
              <a:t>Pemetaan Burned Area dan Fire Severity di Sumatera berbasis Sentinel-2 dengan Thresholding Indeks dan Deep Learning</a:t>
            </a:r>
            <a:endParaRPr sz="1720"/>
          </a:p>
        </p:txBody>
      </p:sp>
      <p:sp>
        <p:nvSpPr>
          <p:cNvPr id="112" name="Google Shape;112;p23"/>
          <p:cNvSpPr txBox="1"/>
          <p:nvPr>
            <p:ph idx="1" type="body"/>
          </p:nvPr>
        </p:nvSpPr>
        <p:spPr>
          <a:xfrm>
            <a:off x="311700" y="1108775"/>
            <a:ext cx="8520600" cy="3849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GB" sz="1100">
                <a:solidFill>
                  <a:schemeClr val="dk1"/>
                </a:solidFill>
              </a:rPr>
              <a:t>5. Pembagian Peran &amp; Lingkup Teknis:</a:t>
            </a:r>
            <a:endParaRPr b="1" sz="1100">
              <a:solidFill>
                <a:schemeClr val="dk1"/>
              </a:solidFill>
            </a:endParaRPr>
          </a:p>
          <a:p>
            <a:pPr indent="-298450" lvl="0" marL="457200" rtl="0" algn="l">
              <a:spcBef>
                <a:spcPts val="1200"/>
              </a:spcBef>
              <a:spcAft>
                <a:spcPts val="0"/>
              </a:spcAft>
              <a:buClr>
                <a:schemeClr val="dk1"/>
              </a:buClr>
              <a:buSzPts val="1100"/>
              <a:buChar char="●"/>
            </a:pPr>
            <a:r>
              <a:rPr b="1" lang="en-GB" sz="1100">
                <a:solidFill>
                  <a:schemeClr val="dk1"/>
                </a:solidFill>
              </a:rPr>
              <a:t>Anggota 1: </a:t>
            </a:r>
            <a:r>
              <a:rPr b="1" lang="en-GB" sz="1100">
                <a:solidFill>
                  <a:schemeClr val="dk1"/>
                </a:solidFill>
              </a:rPr>
              <a:t>Baseline Thresholding (Indeks Burn Severity)</a:t>
            </a:r>
            <a:endParaRPr b="1" sz="1100">
              <a:solidFill>
                <a:schemeClr val="dk1"/>
              </a:solidFill>
            </a:endParaRPr>
          </a:p>
          <a:p>
            <a:pPr indent="-298450" lvl="1" marL="914400" rtl="0" algn="l">
              <a:spcBef>
                <a:spcPts val="0"/>
              </a:spcBef>
              <a:spcAft>
                <a:spcPts val="0"/>
              </a:spcAft>
              <a:buClr>
                <a:schemeClr val="dk1"/>
              </a:buClr>
              <a:buSzPts val="1100"/>
              <a:buChar char="○"/>
            </a:pPr>
            <a:r>
              <a:rPr lang="en-GB" sz="1100">
                <a:solidFill>
                  <a:schemeClr val="dk1"/>
                </a:solidFill>
              </a:rPr>
              <a:t>Preprocessing citra Sentinel-2 (mask awan, resampling band).</a:t>
            </a:r>
            <a:endParaRPr sz="1100">
              <a:solidFill>
                <a:schemeClr val="dk1"/>
              </a:solidFill>
            </a:endParaRPr>
          </a:p>
          <a:p>
            <a:pPr indent="-298450" lvl="1" marL="914400" rtl="0" algn="l">
              <a:spcBef>
                <a:spcPts val="0"/>
              </a:spcBef>
              <a:spcAft>
                <a:spcPts val="0"/>
              </a:spcAft>
              <a:buClr>
                <a:schemeClr val="dk1"/>
              </a:buClr>
              <a:buSzPts val="1100"/>
              <a:buChar char="○"/>
            </a:pPr>
            <a:r>
              <a:rPr lang="en-GB" sz="1100">
                <a:solidFill>
                  <a:schemeClr val="dk1"/>
                </a:solidFill>
              </a:rPr>
              <a:t>Hitung indeks burned area / severity: dNBR, RBR, RdNBR, MIRBI.</a:t>
            </a:r>
            <a:endParaRPr sz="1100">
              <a:solidFill>
                <a:schemeClr val="dk1"/>
              </a:solidFill>
            </a:endParaRPr>
          </a:p>
          <a:p>
            <a:pPr indent="-298450" lvl="1" marL="914400" rtl="0" algn="l">
              <a:spcBef>
                <a:spcPts val="0"/>
              </a:spcBef>
              <a:spcAft>
                <a:spcPts val="0"/>
              </a:spcAft>
              <a:buClr>
                <a:schemeClr val="dk1"/>
              </a:buClr>
              <a:buSzPts val="1100"/>
              <a:buChar char="○"/>
            </a:pPr>
            <a:r>
              <a:rPr lang="en-GB" sz="1100">
                <a:solidFill>
                  <a:schemeClr val="dk1"/>
                </a:solidFill>
              </a:rPr>
              <a:t>Penentuan threshold + evaluasi error (false alarm / missed alarm) pada area gambut Sumatera.</a:t>
            </a:r>
            <a:endParaRPr sz="1100">
              <a:solidFill>
                <a:schemeClr val="dk1"/>
              </a:solidFill>
            </a:endParaRPr>
          </a:p>
          <a:p>
            <a:pPr indent="-298450" lvl="1" marL="914400" rtl="0" algn="l">
              <a:spcBef>
                <a:spcPts val="0"/>
              </a:spcBef>
              <a:spcAft>
                <a:spcPts val="0"/>
              </a:spcAft>
              <a:buClr>
                <a:schemeClr val="dk1"/>
              </a:buClr>
              <a:buSzPts val="1100"/>
              <a:buChar char="○"/>
            </a:pPr>
            <a:r>
              <a:rPr lang="en-GB" sz="1100">
                <a:solidFill>
                  <a:schemeClr val="dk1"/>
                </a:solidFill>
              </a:rPr>
              <a:t>Output: peta burned area baseline + peta severity berbasis indeks.</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Anggota 2: Deep Semantic Segmentation</a:t>
            </a:r>
            <a:endParaRPr b="1" sz="1100">
              <a:solidFill>
                <a:schemeClr val="dk1"/>
              </a:solidFill>
            </a:endParaRPr>
          </a:p>
          <a:p>
            <a:pPr indent="-298450" lvl="1" marL="914400" rtl="0" algn="l">
              <a:spcBef>
                <a:spcPts val="0"/>
              </a:spcBef>
              <a:spcAft>
                <a:spcPts val="0"/>
              </a:spcAft>
              <a:buClr>
                <a:schemeClr val="dk1"/>
              </a:buClr>
              <a:buSzPts val="1100"/>
              <a:buChar char="○"/>
            </a:pPr>
            <a:r>
              <a:rPr lang="en-GB" sz="1100">
                <a:solidFill>
                  <a:schemeClr val="dk1"/>
                </a:solidFill>
              </a:rPr>
              <a:t>Penyusunan/akuisisi labelling burned area (perimeter/patch burned + sampling manual).</a:t>
            </a:r>
            <a:endParaRPr sz="1100">
              <a:solidFill>
                <a:schemeClr val="dk1"/>
              </a:solidFill>
            </a:endParaRPr>
          </a:p>
          <a:p>
            <a:pPr indent="-298450" lvl="1" marL="914400" rtl="0" algn="l">
              <a:spcBef>
                <a:spcPts val="0"/>
              </a:spcBef>
              <a:spcAft>
                <a:spcPts val="0"/>
              </a:spcAft>
              <a:buClr>
                <a:schemeClr val="dk1"/>
              </a:buClr>
              <a:buSzPts val="1100"/>
              <a:buChar char="○"/>
            </a:pPr>
            <a:r>
              <a:rPr lang="en-GB" sz="1100">
                <a:solidFill>
                  <a:schemeClr val="dk1"/>
                </a:solidFill>
              </a:rPr>
              <a:t>Training model segmentasi (mis. U-Net/DeepLabV2) untuk kelas burned vs unburned (atau multi-kelas severity jika memungkinkan). </a:t>
            </a:r>
            <a:endParaRPr sz="1100">
              <a:solidFill>
                <a:schemeClr val="dk1"/>
              </a:solidFill>
            </a:endParaRPr>
          </a:p>
          <a:p>
            <a:pPr indent="-298450" lvl="1" marL="914400" rtl="0" algn="l">
              <a:spcBef>
                <a:spcPts val="0"/>
              </a:spcBef>
              <a:spcAft>
                <a:spcPts val="0"/>
              </a:spcAft>
              <a:buClr>
                <a:schemeClr val="dk1"/>
              </a:buClr>
              <a:buSzPts val="1100"/>
              <a:buChar char="○"/>
            </a:pPr>
            <a:r>
              <a:rPr lang="en-GB" sz="1100">
                <a:solidFill>
                  <a:schemeClr val="dk1"/>
                </a:solidFill>
              </a:rPr>
              <a:t>Evaluasi performa (IoU, F1, precision/recall) dan perbandingan dengan baseline thresholding.</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Anggota 3: </a:t>
            </a:r>
            <a:r>
              <a:rPr b="1" lang="en-GB" sz="1100">
                <a:solidFill>
                  <a:schemeClr val="dk1"/>
                </a:solidFill>
              </a:rPr>
              <a:t>Multispectral Ablation</a:t>
            </a:r>
            <a:endParaRPr b="1" sz="1100">
              <a:solidFill>
                <a:schemeClr val="dk1"/>
              </a:solidFill>
            </a:endParaRPr>
          </a:p>
          <a:p>
            <a:pPr indent="-298450" lvl="1" marL="914400" rtl="0" algn="l">
              <a:spcBef>
                <a:spcPts val="0"/>
              </a:spcBef>
              <a:spcAft>
                <a:spcPts val="0"/>
              </a:spcAft>
              <a:buClr>
                <a:schemeClr val="dk1"/>
              </a:buClr>
              <a:buSzPts val="1100"/>
              <a:buChar char="○"/>
            </a:pPr>
            <a:r>
              <a:rPr lang="en-GB" sz="1100">
                <a:solidFill>
                  <a:schemeClr val="dk1"/>
                </a:solidFill>
              </a:rPr>
              <a:t>Skema input RGB, RGB+NIR, RGB+NIR+SWIR</a:t>
            </a:r>
            <a:endParaRPr sz="1100">
              <a:solidFill>
                <a:schemeClr val="dk1"/>
              </a:solidFill>
            </a:endParaRPr>
          </a:p>
          <a:p>
            <a:pPr indent="-298450" lvl="1" marL="914400" rtl="0" algn="l">
              <a:spcBef>
                <a:spcPts val="0"/>
              </a:spcBef>
              <a:spcAft>
                <a:spcPts val="0"/>
              </a:spcAft>
              <a:buClr>
                <a:schemeClr val="dk1"/>
              </a:buClr>
              <a:buSzPts val="1100"/>
              <a:buChar char="○"/>
            </a:pPr>
            <a:r>
              <a:rPr lang="en-GB" sz="1100">
                <a:solidFill>
                  <a:schemeClr val="dk1"/>
                </a:solidFill>
              </a:rPr>
              <a:t>Jalankan eksperimen ablation pada model segmentasi (setting training sama, input band beda).</a:t>
            </a:r>
            <a:endParaRPr sz="1100">
              <a:solidFill>
                <a:schemeClr val="dk1"/>
              </a:solidFill>
            </a:endParaRPr>
          </a:p>
          <a:p>
            <a:pPr indent="-298450" lvl="1" marL="914400" rtl="0" algn="l">
              <a:spcBef>
                <a:spcPts val="0"/>
              </a:spcBef>
              <a:spcAft>
                <a:spcPts val="0"/>
              </a:spcAft>
              <a:buClr>
                <a:schemeClr val="dk1"/>
              </a:buClr>
              <a:buSzPts val="1100"/>
              <a:buChar char="○"/>
            </a:pPr>
            <a:r>
              <a:rPr lang="en-GB" sz="1100">
                <a:solidFill>
                  <a:schemeClr val="dk1"/>
                </a:solidFill>
              </a:rPr>
              <a:t>Analisis kontribusi band terhadap performa (grafik/summary peningkatan IoU/F1 per skema).</a:t>
            </a:r>
            <a:endParaRPr sz="11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6" name="Shape 116"/>
        <p:cNvGrpSpPr/>
        <p:nvPr/>
      </p:nvGrpSpPr>
      <p:grpSpPr>
        <a:xfrm>
          <a:off x="0" y="0"/>
          <a:ext cx="0" cy="0"/>
          <a:chOff x="0" y="0"/>
          <a:chExt cx="0" cy="0"/>
        </a:xfrm>
      </p:grpSpPr>
      <p:pic>
        <p:nvPicPr>
          <p:cNvPr id="117" name="Google Shape;117;p24"/>
          <p:cNvPicPr preferRelativeResize="0"/>
          <p:nvPr/>
        </p:nvPicPr>
        <p:blipFill rotWithShape="1">
          <a:blip r:embed="rId3">
            <a:alphaModFix/>
          </a:blip>
          <a:srcRect b="0" l="149" r="149" t="0"/>
          <a:stretch/>
        </p:blipFill>
        <p:spPr>
          <a:xfrm>
            <a:off x="-35700" y="0"/>
            <a:ext cx="9210675" cy="516026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1" name="Shape 121"/>
        <p:cNvGrpSpPr/>
        <p:nvPr/>
      </p:nvGrpSpPr>
      <p:grpSpPr>
        <a:xfrm>
          <a:off x="0" y="0"/>
          <a:ext cx="0" cy="0"/>
          <a:chOff x="0" y="0"/>
          <a:chExt cx="0" cy="0"/>
        </a:xfrm>
      </p:grpSpPr>
      <p:pic>
        <p:nvPicPr>
          <p:cNvPr descr="Beautify this slide" id="122" name="Google Shape;122;p25"/>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6" name="Shape 126"/>
        <p:cNvGrpSpPr/>
        <p:nvPr/>
      </p:nvGrpSpPr>
      <p:grpSpPr>
        <a:xfrm>
          <a:off x="0" y="0"/>
          <a:ext cx="0" cy="0"/>
          <a:chOff x="0" y="0"/>
          <a:chExt cx="0" cy="0"/>
        </a:xfrm>
      </p:grpSpPr>
      <p:pic>
        <p:nvPicPr>
          <p:cNvPr descr="Beautify this slide" id="127" name="Google Shape;127;p2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7"/>
          <p:cNvSpPr txBox="1"/>
          <p:nvPr>
            <p:ph idx="1" type="body"/>
          </p:nvPr>
        </p:nvSpPr>
        <p:spPr>
          <a:xfrm>
            <a:off x="311700" y="1239650"/>
            <a:ext cx="8520600" cy="35790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1200"/>
              </a:spcBef>
              <a:spcAft>
                <a:spcPts val="0"/>
              </a:spcAft>
              <a:buNone/>
            </a:pPr>
            <a:r>
              <a:rPr b="1" lang="en-GB" sz="1100">
                <a:solidFill>
                  <a:schemeClr val="dk1"/>
                </a:solidFill>
              </a:rPr>
              <a:t>1. Latar Belakang &amp; Urgensi:</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sz="1100">
                <a:solidFill>
                  <a:schemeClr val="dk1"/>
                </a:solidFill>
              </a:rPr>
              <a:t>Masalah Utama: </a:t>
            </a:r>
            <a:r>
              <a:rPr lang="en-GB" sz="1100">
                <a:solidFill>
                  <a:schemeClr val="dk1"/>
                </a:solidFill>
              </a:rPr>
              <a:t>Sumatera memiliki lahan gambut tropis terluas yang berfungsi sebagai penyimpan karbon raksasa. Namun, konversi lahan menjadi perkebunan kelapa sawit melibatkan pembangunan kanal drainase (canal blocking/ditching) yang mengubah hidrologi lahan.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sz="1100">
                <a:solidFill>
                  <a:schemeClr val="dk1"/>
                </a:solidFill>
              </a:rPr>
              <a:t>Research Gap: </a:t>
            </a:r>
            <a:r>
              <a:rPr lang="en-GB" sz="1100">
                <a:solidFill>
                  <a:schemeClr val="dk1"/>
                </a:solidFill>
              </a:rPr>
              <a:t>Mayoritas penelitian emisi di lahan gambut berfokus pada Karbon Dioksida (CO2) akibat oksidasi gambut kering atau partikulat (PM2.5) akibat kebakaran. Emisi Metana (CH4</a:t>
            </a:r>
            <a:r>
              <a:rPr lang="en-GB" sz="1100">
                <a:solidFill>
                  <a:schemeClr val="dk1"/>
                </a:solidFill>
              </a:rPr>
              <a:t>)</a:t>
            </a:r>
            <a:r>
              <a:rPr lang="en-GB" sz="1100">
                <a:solidFill>
                  <a:schemeClr val="dk1"/>
                </a:solidFill>
              </a:rPr>
              <a:t> sering terabaikan, padahal metana memiliki Global Warming Potential (GWP) 25-80 kali lebih kuat dibanding CO2.</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sz="1100">
                <a:solidFill>
                  <a:schemeClr val="dk1"/>
                </a:solidFill>
              </a:rPr>
              <a:t>Technical Difficulties: </a:t>
            </a:r>
            <a:r>
              <a:rPr lang="en-GB" sz="1100">
                <a:solidFill>
                  <a:schemeClr val="dk1"/>
                </a:solidFill>
              </a:rPr>
              <a:t>Pengukuran gas rumah kaca (GRK) konvensional menggunakan metode chamber di darat sangat mahal, terbatas pada titik sempit, dan sulit dilakukan di area terpencil. Belum ada pemetaan komprehensif berbasis satelit untuk skala pulau Sumatera.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sz="1100">
                <a:solidFill>
                  <a:schemeClr val="dk1"/>
                </a:solidFill>
              </a:rPr>
              <a:t>Tujuan: </a:t>
            </a:r>
            <a:r>
              <a:rPr lang="en-GB" sz="1100">
                <a:solidFill>
                  <a:schemeClr val="dk1"/>
                </a:solidFill>
              </a:rPr>
              <a:t>Untuk memverifikasi klaim keberlanjutan industri sawit (ISPO/RSPO) dan memberikan data objektif mengenai dampak "emisi tak kasat mata" dari alih fungsi lahan gambut terhadap target Net Zero Emission Indonesia.</a:t>
            </a:r>
            <a:endParaRPr sz="1100">
              <a:solidFill>
                <a:schemeClr val="dk1"/>
              </a:solidFill>
            </a:endParaRPr>
          </a:p>
          <a:p>
            <a:pPr indent="0" lvl="0" marL="0" rtl="0" algn="l">
              <a:lnSpc>
                <a:spcPct val="100000"/>
              </a:lnSpc>
              <a:spcBef>
                <a:spcPts val="1200"/>
              </a:spcBef>
              <a:spcAft>
                <a:spcPts val="0"/>
              </a:spcAft>
              <a:buNone/>
            </a:pPr>
            <a:r>
              <a:rPr b="1" lang="en-GB" sz="1100">
                <a:solidFill>
                  <a:schemeClr val="dk1"/>
                </a:solidFill>
              </a:rPr>
              <a:t>2. Dataset &amp; Referensi:</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sz="1100">
                <a:solidFill>
                  <a:schemeClr val="dk1"/>
                </a:solidFill>
              </a:rPr>
              <a:t>Sentinel-5P TROPOMI (ESA)</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sz="1100">
                <a:solidFill>
                  <a:schemeClr val="dk1"/>
                </a:solidFill>
              </a:rPr>
              <a:t>Sentinel-2 / Landsat 8-9</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sz="1100">
                <a:solidFill>
                  <a:schemeClr val="dk1"/>
                </a:solidFill>
              </a:rPr>
              <a:t>Map Data (Data Pendukung): </a:t>
            </a:r>
            <a:r>
              <a:rPr lang="en-GB" sz="1100">
                <a:solidFill>
                  <a:schemeClr val="dk1"/>
                </a:solidFill>
              </a:rPr>
              <a:t>Peta Kesatuan Hidrologis Gambut (KHG), Data Titik Panas (Hotspots), Curah Hujan (CHIRPS)</a:t>
            </a:r>
            <a:endParaRPr/>
          </a:p>
        </p:txBody>
      </p:sp>
      <p:sp>
        <p:nvSpPr>
          <p:cNvPr id="133" name="Google Shape;133;p27"/>
          <p:cNvSpPr txBox="1"/>
          <p:nvPr>
            <p:ph type="title"/>
          </p:nvPr>
        </p:nvSpPr>
        <p:spPr>
          <a:xfrm>
            <a:off x="311700" y="281200"/>
            <a:ext cx="8520600" cy="86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1720"/>
              <a:t>Analisis Spatiotemporal Anomali Emisi Metana (CH4​) pada Ekosistem Gambut yang Dikonversi Menjadi Perkebunan Kelapa Sawit di Sumatera Menggunakan Sentinel-5P TROPOMI</a:t>
            </a:r>
            <a:endParaRPr sz="172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8"/>
          <p:cNvSpPr txBox="1"/>
          <p:nvPr>
            <p:ph type="title"/>
          </p:nvPr>
        </p:nvSpPr>
        <p:spPr>
          <a:xfrm>
            <a:off x="311700" y="2812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GB" sz="1720"/>
              <a:t>Analisis Spatiotemporal Anomali Emisi Metana (CH4​) pada Ekosistem Gambut yang Dikonversi Menjadi Perkebunan Kelapa Sawit di Sumatera Menggunakan Sentinel-5P TROPOMI</a:t>
            </a:r>
            <a:endParaRPr sz="1720"/>
          </a:p>
          <a:p>
            <a:pPr indent="0" lvl="0" marL="0" rtl="0" algn="l">
              <a:spcBef>
                <a:spcPts val="0"/>
              </a:spcBef>
              <a:spcAft>
                <a:spcPts val="0"/>
              </a:spcAft>
              <a:buSzPts val="990"/>
              <a:buNone/>
            </a:pPr>
            <a:r>
              <a:t/>
            </a:r>
            <a:endParaRPr sz="1720"/>
          </a:p>
        </p:txBody>
      </p:sp>
      <p:sp>
        <p:nvSpPr>
          <p:cNvPr id="139" name="Google Shape;139;p28"/>
          <p:cNvSpPr txBox="1"/>
          <p:nvPr>
            <p:ph idx="1" type="body"/>
          </p:nvPr>
        </p:nvSpPr>
        <p:spPr>
          <a:xfrm>
            <a:off x="311700" y="1281675"/>
            <a:ext cx="8520600" cy="36762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b="1" lang="en-GB" sz="1100">
                <a:solidFill>
                  <a:schemeClr val="dk1"/>
                </a:solidFill>
              </a:rPr>
              <a:t>3. Hipotesis Teknis:</a:t>
            </a:r>
            <a:endParaRPr b="1" sz="1100">
              <a:solidFill>
                <a:schemeClr val="dk1"/>
              </a:solidFill>
            </a:endParaRPr>
          </a:p>
          <a:p>
            <a:pPr indent="-298450" lvl="0" marL="457200" rtl="0" algn="l">
              <a:spcBef>
                <a:spcPts val="1200"/>
              </a:spcBef>
              <a:spcAft>
                <a:spcPts val="0"/>
              </a:spcAft>
              <a:buClr>
                <a:schemeClr val="dk1"/>
              </a:buClr>
              <a:buSzPts val="1100"/>
              <a:buChar char="●"/>
            </a:pPr>
            <a:r>
              <a:rPr b="1" lang="en-GB" sz="1100">
                <a:solidFill>
                  <a:schemeClr val="dk1"/>
                </a:solidFill>
              </a:rPr>
              <a:t>Spasial</a:t>
            </a:r>
            <a:r>
              <a:rPr lang="en-GB" sz="1100">
                <a:solidFill>
                  <a:schemeClr val="dk1"/>
                </a:solidFill>
              </a:rPr>
              <a:t>: Konsentrasi kolom CH4 di atas area Gambut Terkonversi (Sawit) akan menunjukkan nilai rata-rata (mixing ratio) yang lebih tinggi atau pola variabilitas yang lebih ekstrim dibandingkan dengan Hutan Gambut Alami, akibat gangguan hidrologis dan dekomposisi biomassa.  </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Temporal</a:t>
            </a:r>
            <a:r>
              <a:rPr lang="en-GB" sz="1100">
                <a:solidFill>
                  <a:schemeClr val="dk1"/>
                </a:solidFill>
              </a:rPr>
              <a:t>: Konsentrasi CH4 akan menunjukkan pola musiman yang berbeda antara hutan dan sawit. Di area sawit, fluktuasi muka air tanah (akibat manajemen kanal) dapat memicu lonjakan emisi metana (anomali) yang tidak terjadi di hutan alami.  </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Deteksi Satelit</a:t>
            </a:r>
            <a:r>
              <a:rPr lang="en-GB" sz="1100">
                <a:solidFill>
                  <a:schemeClr val="dk1"/>
                </a:solidFill>
              </a:rPr>
              <a:t>: Meskipun resolusi Sentinel-5P tergolong kasar (7km), agregasi data dalam skala lanskap (kabupaten/DAS) mampu menangkap sinyal emisi kumulatif dari perkebunan sawit skala besar.</a:t>
            </a:r>
            <a:endParaRPr sz="1100">
              <a:solidFill>
                <a:schemeClr val="dk1"/>
              </a:solidFill>
            </a:endParaRPr>
          </a:p>
          <a:p>
            <a:pPr indent="0" lvl="0" marL="0" rtl="0" algn="l">
              <a:spcBef>
                <a:spcPts val="1200"/>
              </a:spcBef>
              <a:spcAft>
                <a:spcPts val="0"/>
              </a:spcAft>
              <a:buNone/>
            </a:pPr>
            <a:r>
              <a:rPr b="1" lang="en-GB" sz="1100">
                <a:solidFill>
                  <a:schemeClr val="dk1"/>
                </a:solidFill>
              </a:rPr>
              <a:t>4. Tujuan Penelitian (Objectives):</a:t>
            </a:r>
            <a:endParaRPr b="1" sz="1100">
              <a:solidFill>
                <a:schemeClr val="dk1"/>
              </a:solidFill>
            </a:endParaRPr>
          </a:p>
          <a:p>
            <a:pPr indent="-298450" lvl="0" marL="457200" rtl="0" algn="l">
              <a:spcBef>
                <a:spcPts val="1200"/>
              </a:spcBef>
              <a:spcAft>
                <a:spcPts val="0"/>
              </a:spcAft>
              <a:buClr>
                <a:schemeClr val="dk1"/>
              </a:buClr>
              <a:buSzPts val="1100"/>
              <a:buChar char="●"/>
            </a:pPr>
            <a:r>
              <a:rPr b="1" lang="en-GB" sz="1100">
                <a:solidFill>
                  <a:schemeClr val="dk1"/>
                </a:solidFill>
              </a:rPr>
              <a:t>Pengembangan Model: </a:t>
            </a:r>
            <a:r>
              <a:rPr lang="en-GB" sz="1100">
                <a:solidFill>
                  <a:schemeClr val="dk1"/>
                </a:solidFill>
              </a:rPr>
              <a:t>Mengembangkan pipeline pemrosesan data Sentinel-5P (filter awan, destriping, gridding) menggunakan Google Earth Engine atau Python untuk wilayah tropis yang berawan.  </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Pemetaan Distribusi: </a:t>
            </a:r>
            <a:r>
              <a:rPr lang="en-GB" sz="1100">
                <a:solidFill>
                  <a:schemeClr val="dk1"/>
                </a:solidFill>
              </a:rPr>
              <a:t>Memetakan distribusi spasial konsentrasi rata-rata CH4 di Sumatera (2020-2025) dan mengidentifikasi hotspot emisi gas (bukan api). </a:t>
            </a:r>
            <a:r>
              <a:rPr b="1" lang="en-GB" sz="1100">
                <a:solidFill>
                  <a:schemeClr val="dk1"/>
                </a:solidFill>
              </a:rPr>
              <a:t> </a:t>
            </a:r>
            <a:endParaRPr b="1"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Analisis Komparatif: </a:t>
            </a:r>
            <a:r>
              <a:rPr lang="en-GB" sz="1100">
                <a:solidFill>
                  <a:schemeClr val="dk1"/>
                </a:solidFill>
              </a:rPr>
              <a:t>Mengkuantifikasi perbedaan konsentrasi CH4 pada tiga kelas lahan: (a) Hutan Gambut Primer, (b) Perkebunan Sawit di Gambut, (c) Lahan Mineral.  </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Korelasi Lingkungan: </a:t>
            </a:r>
            <a:r>
              <a:rPr lang="en-GB" sz="1100">
                <a:solidFill>
                  <a:schemeClr val="dk1"/>
                </a:solidFill>
              </a:rPr>
              <a:t>Menganalisis hubungan statistik antara anomali metana dengan parameter curah hujan dan aktivitas pembukaan lahan (deforestasi).</a:t>
            </a:r>
            <a:endParaRPr sz="11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9"/>
          <p:cNvSpPr txBox="1"/>
          <p:nvPr>
            <p:ph type="title"/>
          </p:nvPr>
        </p:nvSpPr>
        <p:spPr>
          <a:xfrm>
            <a:off x="311700" y="2812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GB" sz="1720"/>
              <a:t>Analisis Spatiotemporal Anomali Emisi Metana (CH4​) pada Ekosistem Gambut yang Dikonversi Menjadi Perkebunan Kelapa Sawit di Sumatera Menggunakan Sentinel-5P TROPOMI</a:t>
            </a:r>
            <a:endParaRPr sz="1720"/>
          </a:p>
          <a:p>
            <a:pPr indent="0" lvl="0" marL="0" rtl="0" algn="l">
              <a:spcBef>
                <a:spcPts val="0"/>
              </a:spcBef>
              <a:spcAft>
                <a:spcPts val="0"/>
              </a:spcAft>
              <a:buSzPts val="990"/>
              <a:buNone/>
            </a:pPr>
            <a:r>
              <a:t/>
            </a:r>
            <a:endParaRPr sz="1720"/>
          </a:p>
        </p:txBody>
      </p:sp>
      <p:sp>
        <p:nvSpPr>
          <p:cNvPr id="145" name="Google Shape;145;p29"/>
          <p:cNvSpPr txBox="1"/>
          <p:nvPr>
            <p:ph idx="1" type="body"/>
          </p:nvPr>
        </p:nvSpPr>
        <p:spPr>
          <a:xfrm>
            <a:off x="311700" y="1170925"/>
            <a:ext cx="8726400" cy="3713400"/>
          </a:xfrm>
          <a:prstGeom prst="rect">
            <a:avLst/>
          </a:prstGeom>
        </p:spPr>
        <p:txBody>
          <a:bodyPr anchorCtr="0" anchor="t" bIns="91425" lIns="91425" spcFirstLastPara="1" rIns="91425" wrap="square" tIns="91425">
            <a:normAutofit fontScale="70000"/>
          </a:bodyPr>
          <a:lstStyle/>
          <a:p>
            <a:pPr indent="0" lvl="0" marL="0" rtl="0" algn="l">
              <a:lnSpc>
                <a:spcPct val="115000"/>
              </a:lnSpc>
              <a:spcBef>
                <a:spcPts val="1200"/>
              </a:spcBef>
              <a:spcAft>
                <a:spcPts val="0"/>
              </a:spcAft>
              <a:buNone/>
            </a:pPr>
            <a:r>
              <a:rPr b="1" lang="en-GB" sz="1100">
                <a:solidFill>
                  <a:schemeClr val="dk1"/>
                </a:solidFill>
              </a:rPr>
              <a:t>5. Pembagian Peran &amp; Lingkup Teknis:</a:t>
            </a:r>
            <a:endParaRPr b="1" sz="1100">
              <a:solidFill>
                <a:schemeClr val="dk1"/>
              </a:solidFill>
            </a:endParaRPr>
          </a:p>
          <a:p>
            <a:pPr indent="0" lvl="0" marL="0" rtl="0" algn="l">
              <a:lnSpc>
                <a:spcPct val="115000"/>
              </a:lnSpc>
              <a:spcBef>
                <a:spcPts val="1200"/>
              </a:spcBef>
              <a:spcAft>
                <a:spcPts val="0"/>
              </a:spcAft>
              <a:buNone/>
            </a:pPr>
            <a:r>
              <a:rPr b="1" lang="en-GB" sz="1100">
                <a:solidFill>
                  <a:schemeClr val="dk1"/>
                </a:solidFill>
              </a:rPr>
              <a:t>Anggota 1: </a:t>
            </a:r>
            <a:r>
              <a:rPr lang="en-GB" sz="1100">
                <a:solidFill>
                  <a:schemeClr val="dk1"/>
                </a:solidFill>
              </a:rPr>
              <a:t>Mendeteksi apa yang ada di permukaan bumi (Land Cover). Tugas utamanya adalah membedakan mana hutan gambut alami, mana perkebunan sawit, dan mana lahan terbuka/kanal. </a:t>
            </a:r>
            <a:endParaRPr sz="1100">
              <a:solidFill>
                <a:schemeClr val="dk1"/>
              </a:solidFill>
            </a:endParaRPr>
          </a:p>
          <a:p>
            <a:pPr indent="-277495" lvl="0" marL="457200" rtl="0" algn="l">
              <a:lnSpc>
                <a:spcPct val="115000"/>
              </a:lnSpc>
              <a:spcBef>
                <a:spcPts val="1200"/>
              </a:spcBef>
              <a:spcAft>
                <a:spcPts val="0"/>
              </a:spcAft>
              <a:buClr>
                <a:schemeClr val="dk1"/>
              </a:buClr>
              <a:buSzPct val="100000"/>
              <a:buChar char="●"/>
            </a:pPr>
            <a:r>
              <a:rPr b="1" lang="en-GB" sz="1100">
                <a:solidFill>
                  <a:schemeClr val="dk1"/>
                </a:solidFill>
              </a:rPr>
              <a:t>Data Acquisition &amp; Pre-processing: </a:t>
            </a:r>
            <a:r>
              <a:rPr lang="en-GB" sz="1100">
                <a:solidFill>
                  <a:schemeClr val="dk1"/>
                </a:solidFill>
              </a:rPr>
              <a:t>Mengakuisisi dan memproses citra satelit optik resolusi tinggi (Sentinel-2 atau Landsat 8/9), termasuk koreksi atmosferik dan penyiapan kanal input (RGB + NDVI). </a:t>
            </a:r>
            <a:endParaRPr sz="1100">
              <a:solidFill>
                <a:schemeClr val="dk1"/>
              </a:solidFill>
            </a:endParaRPr>
          </a:p>
          <a:p>
            <a:pPr indent="-277495" lvl="0" marL="457200" rtl="0" algn="l">
              <a:lnSpc>
                <a:spcPct val="115000"/>
              </a:lnSpc>
              <a:spcBef>
                <a:spcPts val="0"/>
              </a:spcBef>
              <a:spcAft>
                <a:spcPts val="0"/>
              </a:spcAft>
              <a:buClr>
                <a:schemeClr val="dk1"/>
              </a:buClr>
              <a:buSzPct val="100000"/>
              <a:buChar char="●"/>
            </a:pPr>
            <a:r>
              <a:rPr b="1" lang="en-GB" sz="1100">
                <a:solidFill>
                  <a:schemeClr val="dk1"/>
                </a:solidFill>
              </a:rPr>
              <a:t>Dataset Construction: </a:t>
            </a:r>
            <a:r>
              <a:rPr lang="en-GB" sz="1100">
                <a:solidFill>
                  <a:schemeClr val="dk1"/>
                </a:solidFill>
              </a:rPr>
              <a:t>Membangun dataset kustom melalui anotasi manual (ground truthing) untuk empat kelas utama: (0) Hutan, (1) Sawit, (2) Air/Kanal, dan (3) Tanah Terbuka. </a:t>
            </a:r>
            <a:endParaRPr sz="1100">
              <a:solidFill>
                <a:schemeClr val="dk1"/>
              </a:solidFill>
            </a:endParaRPr>
          </a:p>
          <a:p>
            <a:pPr indent="-277495" lvl="0" marL="457200" rtl="0" algn="l">
              <a:lnSpc>
                <a:spcPct val="115000"/>
              </a:lnSpc>
              <a:spcBef>
                <a:spcPts val="0"/>
              </a:spcBef>
              <a:spcAft>
                <a:spcPts val="0"/>
              </a:spcAft>
              <a:buClr>
                <a:schemeClr val="dk1"/>
              </a:buClr>
              <a:buSzPct val="100000"/>
              <a:buChar char="●"/>
            </a:pPr>
            <a:r>
              <a:rPr b="1" lang="en-GB" sz="1100">
                <a:solidFill>
                  <a:schemeClr val="dk1"/>
                </a:solidFill>
              </a:rPr>
              <a:t>Model Implementation: </a:t>
            </a:r>
            <a:r>
              <a:rPr lang="en-GB" sz="1100">
                <a:solidFill>
                  <a:schemeClr val="dk1"/>
                </a:solidFill>
              </a:rPr>
              <a:t>Mengembangkan dan melatih arsitektur Semantic Segmentation mutakhir (seperti DeepLabV3+ atau U-Net) dengan strategi penanganan imbalanced class.</a:t>
            </a:r>
            <a:endParaRPr sz="1100">
              <a:solidFill>
                <a:schemeClr val="dk1"/>
              </a:solidFill>
            </a:endParaRPr>
          </a:p>
          <a:p>
            <a:pPr indent="0" lvl="0" marL="0" rtl="0" algn="l">
              <a:lnSpc>
                <a:spcPct val="115000"/>
              </a:lnSpc>
              <a:spcBef>
                <a:spcPts val="1200"/>
              </a:spcBef>
              <a:spcAft>
                <a:spcPts val="0"/>
              </a:spcAft>
              <a:buNone/>
            </a:pPr>
            <a:r>
              <a:rPr b="1" lang="en-GB" sz="1100">
                <a:solidFill>
                  <a:schemeClr val="dk1"/>
                </a:solidFill>
              </a:rPr>
              <a:t>Anggota 2: </a:t>
            </a:r>
            <a:r>
              <a:rPr lang="en-GB" sz="1100">
                <a:solidFill>
                  <a:schemeClr val="dk1"/>
                </a:solidFill>
              </a:rPr>
              <a:t>Memodelkan parameter iklim/atmosfer. Karena data Metana (Sentinel-5P) resolusinya kasar (7km), melakukan Downscaling atau pemodelan regresi menggunakan LST sebagai fitur bantuan. </a:t>
            </a:r>
            <a:endParaRPr sz="1100">
              <a:solidFill>
                <a:schemeClr val="dk1"/>
              </a:solidFill>
            </a:endParaRPr>
          </a:p>
          <a:p>
            <a:pPr indent="-277495" lvl="0" marL="457200" rtl="0" algn="l">
              <a:lnSpc>
                <a:spcPct val="115000"/>
              </a:lnSpc>
              <a:spcBef>
                <a:spcPts val="1200"/>
              </a:spcBef>
              <a:spcAft>
                <a:spcPts val="0"/>
              </a:spcAft>
              <a:buClr>
                <a:schemeClr val="dk1"/>
              </a:buClr>
              <a:buSzPct val="100000"/>
              <a:buChar char="●"/>
            </a:pPr>
            <a:r>
              <a:rPr b="1" lang="en-GB" sz="1100">
                <a:solidFill>
                  <a:schemeClr val="dk1"/>
                </a:solidFill>
              </a:rPr>
              <a:t>Feature Extraction: </a:t>
            </a:r>
            <a:r>
              <a:rPr lang="en-GB" sz="1100">
                <a:solidFill>
                  <a:schemeClr val="dk1"/>
                </a:solidFill>
              </a:rPr>
              <a:t>Mengekstraksi variabel prediktor fisik, yaitu Land Surface Temperature (LST) untuk parameter termal dan NDVI untuk parameter biomassa/vegetasi. </a:t>
            </a:r>
            <a:endParaRPr sz="1100">
              <a:solidFill>
                <a:schemeClr val="dk1"/>
              </a:solidFill>
            </a:endParaRPr>
          </a:p>
          <a:p>
            <a:pPr indent="-277495" lvl="0" marL="457200" rtl="0" algn="l">
              <a:lnSpc>
                <a:spcPct val="115000"/>
              </a:lnSpc>
              <a:spcBef>
                <a:spcPts val="0"/>
              </a:spcBef>
              <a:spcAft>
                <a:spcPts val="0"/>
              </a:spcAft>
              <a:buClr>
                <a:schemeClr val="dk1"/>
              </a:buClr>
              <a:buSzPct val="100000"/>
              <a:buChar char="●"/>
            </a:pPr>
            <a:r>
              <a:rPr b="1" lang="en-GB" sz="1100">
                <a:solidFill>
                  <a:schemeClr val="dk1"/>
                </a:solidFill>
              </a:rPr>
              <a:t>Multi-modal Architecture: </a:t>
            </a:r>
            <a:r>
              <a:rPr lang="en-GB" sz="1100">
                <a:solidFill>
                  <a:schemeClr val="dk1"/>
                </a:solidFill>
              </a:rPr>
              <a:t>Membangun arsitektur Neural Network (misal: CNN-Regression atau Multi-Input Fusion Network) yang mengintegrasikan data tabular gas (Sentinel-5P) dengan data citra spasial (Peta Segmentasi &amp; LST). </a:t>
            </a:r>
            <a:endParaRPr sz="1100">
              <a:solidFill>
                <a:schemeClr val="dk1"/>
              </a:solidFill>
            </a:endParaRPr>
          </a:p>
          <a:p>
            <a:pPr indent="-277495" lvl="0" marL="457200" rtl="0" algn="l">
              <a:lnSpc>
                <a:spcPct val="115000"/>
              </a:lnSpc>
              <a:spcBef>
                <a:spcPts val="0"/>
              </a:spcBef>
              <a:spcAft>
                <a:spcPts val="0"/>
              </a:spcAft>
              <a:buClr>
                <a:schemeClr val="dk1"/>
              </a:buClr>
              <a:buSzPct val="100000"/>
              <a:buChar char="●"/>
            </a:pPr>
            <a:r>
              <a:rPr b="1" lang="en-GB" sz="1100">
                <a:solidFill>
                  <a:schemeClr val="dk1"/>
                </a:solidFill>
              </a:rPr>
              <a:t>Spatial Downscaling: </a:t>
            </a:r>
            <a:r>
              <a:rPr lang="en-GB" sz="1100">
                <a:solidFill>
                  <a:schemeClr val="dk1"/>
                </a:solidFill>
              </a:rPr>
              <a:t>Melatih model untuk memprediksi distribusi konsentrasi Metana (CH4 ​) pada skala yang lebih detail berdasarkan pola suhu dan tutupan lahan.</a:t>
            </a:r>
            <a:endParaRPr sz="1100">
              <a:solidFill>
                <a:schemeClr val="dk1"/>
              </a:solidFill>
            </a:endParaRPr>
          </a:p>
          <a:p>
            <a:pPr indent="0" lvl="0" marL="0" rtl="0" algn="l">
              <a:lnSpc>
                <a:spcPct val="115000"/>
              </a:lnSpc>
              <a:spcBef>
                <a:spcPts val="1200"/>
              </a:spcBef>
              <a:spcAft>
                <a:spcPts val="0"/>
              </a:spcAft>
              <a:buNone/>
            </a:pPr>
            <a:r>
              <a:rPr b="1" lang="en-GB" sz="1100">
                <a:solidFill>
                  <a:schemeClr val="dk1"/>
                </a:solidFill>
              </a:rPr>
              <a:t>Anggota 3: </a:t>
            </a:r>
            <a:r>
              <a:rPr lang="en-GB" sz="1100">
                <a:solidFill>
                  <a:schemeClr val="dk1"/>
                </a:solidFill>
              </a:rPr>
              <a:t>Analisis statistik geospasial dan pembuktian hipotesis. </a:t>
            </a:r>
            <a:endParaRPr sz="1100">
              <a:solidFill>
                <a:schemeClr val="dk1"/>
              </a:solidFill>
            </a:endParaRPr>
          </a:p>
          <a:p>
            <a:pPr indent="-277495" lvl="0" marL="457200" rtl="0" algn="l">
              <a:lnSpc>
                <a:spcPct val="115000"/>
              </a:lnSpc>
              <a:spcBef>
                <a:spcPts val="1200"/>
              </a:spcBef>
              <a:spcAft>
                <a:spcPts val="0"/>
              </a:spcAft>
              <a:buClr>
                <a:schemeClr val="dk1"/>
              </a:buClr>
              <a:buSzPct val="100000"/>
              <a:buChar char="●"/>
            </a:pPr>
            <a:r>
              <a:rPr b="1" lang="en-GB" sz="1100">
                <a:solidFill>
                  <a:schemeClr val="dk1"/>
                </a:solidFill>
              </a:rPr>
              <a:t>Zonal Statistics Analysis: </a:t>
            </a:r>
            <a:r>
              <a:rPr lang="en-GB" sz="1100">
                <a:solidFill>
                  <a:schemeClr val="dk1"/>
                </a:solidFill>
              </a:rPr>
              <a:t>Melakukan kuantifikasi emisi dengan menghitung rata-rata konsentrasi Metana secara spesifik di dalam poligon area Sawit dibandingkan dengan area Hutan Konservasi.  </a:t>
            </a:r>
            <a:endParaRPr sz="1100">
              <a:solidFill>
                <a:schemeClr val="dk1"/>
              </a:solidFill>
            </a:endParaRPr>
          </a:p>
          <a:p>
            <a:pPr indent="-277495" lvl="0" marL="457200" rtl="0" algn="l">
              <a:lnSpc>
                <a:spcPct val="115000"/>
              </a:lnSpc>
              <a:spcBef>
                <a:spcPts val="0"/>
              </a:spcBef>
              <a:spcAft>
                <a:spcPts val="0"/>
              </a:spcAft>
              <a:buClr>
                <a:schemeClr val="dk1"/>
              </a:buClr>
              <a:buSzPct val="100000"/>
              <a:buChar char="●"/>
            </a:pPr>
            <a:r>
              <a:rPr b="1" lang="en-GB" sz="1100">
                <a:solidFill>
                  <a:schemeClr val="dk1"/>
                </a:solidFill>
              </a:rPr>
              <a:t>Spatiotemporal Analysis: </a:t>
            </a:r>
            <a:r>
              <a:rPr lang="en-GB" sz="1100">
                <a:solidFill>
                  <a:schemeClr val="dk1"/>
                </a:solidFill>
              </a:rPr>
              <a:t>Menganalisis tren deret waktu (time-series) periode 2020-2025 untuk mendeteksi anomali musiman dan korelasi lag-time antara perubahan NDVI/LST dengan lonjakan gas metana.  </a:t>
            </a:r>
            <a:endParaRPr sz="1100">
              <a:solidFill>
                <a:schemeClr val="dk1"/>
              </a:solidFill>
            </a:endParaRPr>
          </a:p>
          <a:p>
            <a:pPr indent="-277495" lvl="0" marL="457200" rtl="0" algn="l">
              <a:lnSpc>
                <a:spcPct val="115000"/>
              </a:lnSpc>
              <a:spcBef>
                <a:spcPts val="0"/>
              </a:spcBef>
              <a:spcAft>
                <a:spcPts val="0"/>
              </a:spcAft>
              <a:buClr>
                <a:schemeClr val="dk1"/>
              </a:buClr>
              <a:buSzPct val="100000"/>
              <a:buChar char="●"/>
            </a:pPr>
            <a:r>
              <a:rPr b="1" lang="en-GB" sz="1100">
                <a:solidFill>
                  <a:schemeClr val="dk1"/>
                </a:solidFill>
              </a:rPr>
              <a:t>Statistical Significance Test: </a:t>
            </a:r>
            <a:r>
              <a:rPr lang="en-GB" sz="1100">
                <a:solidFill>
                  <a:schemeClr val="dk1"/>
                </a:solidFill>
              </a:rPr>
              <a:t>Melakukan uji statistik spasial (seperti Moran’s I untuk autokorelasi atau T-Test) untuk memvalidasi signifikansi pengelompokan hotspot metana di area perkebunan.</a:t>
            </a:r>
            <a:endParaRPr sz="11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9" name="Shape 149"/>
        <p:cNvGrpSpPr/>
        <p:nvPr/>
      </p:nvGrpSpPr>
      <p:grpSpPr>
        <a:xfrm>
          <a:off x="0" y="0"/>
          <a:ext cx="0" cy="0"/>
          <a:chOff x="0" y="0"/>
          <a:chExt cx="0" cy="0"/>
        </a:xfrm>
      </p:grpSpPr>
      <p:pic>
        <p:nvPicPr>
          <p:cNvPr descr="Beautify this slide" id="150" name="Google Shape;150;p30"/>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4" name="Shape 154"/>
        <p:cNvGrpSpPr/>
        <p:nvPr/>
      </p:nvGrpSpPr>
      <p:grpSpPr>
        <a:xfrm>
          <a:off x="0" y="0"/>
          <a:ext cx="0" cy="0"/>
          <a:chOff x="0" y="0"/>
          <a:chExt cx="0" cy="0"/>
        </a:xfrm>
      </p:grpSpPr>
      <p:pic>
        <p:nvPicPr>
          <p:cNvPr descr="Beautify this slide" id="155" name="Google Shape;155;p31"/>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9" name="Shape 159"/>
        <p:cNvGrpSpPr/>
        <p:nvPr/>
      </p:nvGrpSpPr>
      <p:grpSpPr>
        <a:xfrm>
          <a:off x="0" y="0"/>
          <a:ext cx="0" cy="0"/>
          <a:chOff x="0" y="0"/>
          <a:chExt cx="0" cy="0"/>
        </a:xfrm>
      </p:grpSpPr>
      <p:pic>
        <p:nvPicPr>
          <p:cNvPr descr="Beautify this slide" id="160" name="Google Shape;160;p32"/>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3"/>
          <p:cNvSpPr txBox="1"/>
          <p:nvPr>
            <p:ph idx="1" type="body"/>
          </p:nvPr>
        </p:nvSpPr>
        <p:spPr>
          <a:xfrm>
            <a:off x="311700" y="1239650"/>
            <a:ext cx="8520600" cy="3579000"/>
          </a:xfrm>
          <a:prstGeom prst="rect">
            <a:avLst/>
          </a:prstGeom>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b="1" lang="en-GB" sz="1100">
                <a:solidFill>
                  <a:schemeClr val="dk1"/>
                </a:solidFill>
              </a:rPr>
              <a:t>1. Latar Belakang &amp; Urgensi:</a:t>
            </a:r>
            <a:endParaRPr b="1" sz="1100">
              <a:solidFill>
                <a:schemeClr val="dk1"/>
              </a:solidFill>
            </a:endParaRPr>
          </a:p>
          <a:p>
            <a:pPr indent="-298450" lvl="0" marL="457200" rtl="0" algn="l">
              <a:spcBef>
                <a:spcPts val="1200"/>
              </a:spcBef>
              <a:spcAft>
                <a:spcPts val="0"/>
              </a:spcAft>
              <a:buClr>
                <a:schemeClr val="dk1"/>
              </a:buClr>
              <a:buSzPts val="1100"/>
              <a:buChar char="●"/>
            </a:pPr>
            <a:r>
              <a:rPr b="1" lang="en-GB" sz="1100">
                <a:solidFill>
                  <a:schemeClr val="dk1"/>
                </a:solidFill>
              </a:rPr>
              <a:t>Masalah Utama:</a:t>
            </a:r>
            <a:r>
              <a:rPr lang="en-GB" sz="1100">
                <a:solidFill>
                  <a:schemeClr val="dk1"/>
                </a:solidFill>
              </a:rPr>
              <a:t> Perubahan atau alih fungsi lahan (misal: Hutan ke Sawit) di Sumatra berdampak langsung pada kenaikan suhu lokal.</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Tantangan Teknis:</a:t>
            </a:r>
            <a:r>
              <a:rPr lang="en-GB" sz="1100">
                <a:solidFill>
                  <a:schemeClr val="dk1"/>
                </a:solidFill>
              </a:rPr>
              <a:t> Data citra satelit tropis memiliki gangguan tinggi (awan/kabut) dan kompleksitas spektral, sehingga memerlukan teknik </a:t>
            </a:r>
            <a:r>
              <a:rPr i="1" lang="en-GB" sz="1100">
                <a:solidFill>
                  <a:schemeClr val="dk1"/>
                </a:solidFill>
              </a:rPr>
              <a:t>preprocessing</a:t>
            </a:r>
            <a:r>
              <a:rPr lang="en-GB" sz="1100">
                <a:solidFill>
                  <a:schemeClr val="dk1"/>
                </a:solidFill>
              </a:rPr>
              <a:t> tingkat lanjut agar layak masuk ke model </a:t>
            </a:r>
            <a:r>
              <a:rPr i="1" lang="en-GB" sz="1100">
                <a:solidFill>
                  <a:schemeClr val="dk1"/>
                </a:solidFill>
              </a:rPr>
              <a:t>Deep Learning</a:t>
            </a:r>
            <a:r>
              <a:rPr lang="en-GB"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Research Gap:</a:t>
            </a:r>
            <a:r>
              <a:rPr lang="en-GB" sz="1100">
                <a:solidFill>
                  <a:schemeClr val="dk1"/>
                </a:solidFill>
              </a:rPr>
              <a:t> Belum banyak studi yang membangun </a:t>
            </a:r>
            <a:r>
              <a:rPr i="1" lang="en-GB" sz="1100">
                <a:solidFill>
                  <a:schemeClr val="dk1"/>
                </a:solidFill>
              </a:rPr>
              <a:t>pipeline</a:t>
            </a:r>
            <a:r>
              <a:rPr lang="en-GB" sz="1100">
                <a:solidFill>
                  <a:schemeClr val="dk1"/>
                </a:solidFill>
              </a:rPr>
              <a:t> terintegrasi mulai dari pembersihan data satelit, segmentasi multikelas, hingga regresi suhu untuk mengukur dampak panas per jenis tanaman secara otomatis.</a:t>
            </a:r>
            <a:endParaRPr b="1" sz="1100">
              <a:solidFill>
                <a:schemeClr val="dk1"/>
              </a:solidFill>
            </a:endParaRPr>
          </a:p>
          <a:p>
            <a:pPr indent="0" lvl="0" marL="0" rtl="0" algn="l">
              <a:lnSpc>
                <a:spcPct val="100000"/>
              </a:lnSpc>
              <a:spcBef>
                <a:spcPts val="1200"/>
              </a:spcBef>
              <a:spcAft>
                <a:spcPts val="0"/>
              </a:spcAft>
              <a:buNone/>
            </a:pPr>
            <a:r>
              <a:rPr b="1" lang="en-GB" sz="1100">
                <a:solidFill>
                  <a:schemeClr val="dk1"/>
                </a:solidFill>
              </a:rPr>
              <a:t>2. Dataset &amp; Referensi:</a:t>
            </a:r>
            <a:endParaRPr b="1" sz="1100">
              <a:solidFill>
                <a:schemeClr val="dk1"/>
              </a:solidFill>
            </a:endParaRPr>
          </a:p>
          <a:p>
            <a:pPr indent="-298450" lvl="0" marL="457200" rtl="0" algn="l">
              <a:spcBef>
                <a:spcPts val="1200"/>
              </a:spcBef>
              <a:spcAft>
                <a:spcPts val="0"/>
              </a:spcAft>
              <a:buClr>
                <a:schemeClr val="dk1"/>
              </a:buClr>
              <a:buSzPts val="1100"/>
              <a:buChar char="●"/>
            </a:pPr>
            <a:r>
              <a:rPr b="1" lang="en-GB" sz="1100">
                <a:solidFill>
                  <a:schemeClr val="dk1"/>
                </a:solidFill>
              </a:rPr>
              <a:t>Landsat 8/9 Level-2:</a:t>
            </a:r>
            <a:r>
              <a:rPr lang="en-GB" sz="1100">
                <a:solidFill>
                  <a:schemeClr val="dk1"/>
                </a:solidFill>
              </a:rPr>
              <a:t> Band Optik (RGB/NIR) &amp; Termal (TIRS).</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Label:</a:t>
            </a:r>
            <a:r>
              <a:rPr lang="en-GB" sz="1100">
                <a:solidFill>
                  <a:schemeClr val="dk1"/>
                </a:solidFill>
              </a:rPr>
              <a:t> ESA WorldCover / KLHK (sebagai </a:t>
            </a:r>
            <a:r>
              <a:rPr i="1" lang="en-GB" sz="1100">
                <a:solidFill>
                  <a:schemeClr val="dk1"/>
                </a:solidFill>
              </a:rPr>
              <a:t>Ground Truth</a:t>
            </a:r>
            <a:r>
              <a:rPr lang="en-GB" sz="1100">
                <a:solidFill>
                  <a:schemeClr val="dk1"/>
                </a:solidFill>
              </a:rPr>
              <a:t>).</a:t>
            </a:r>
            <a:endParaRPr b="1" sz="1100">
              <a:solidFill>
                <a:schemeClr val="dk1"/>
              </a:solidFill>
            </a:endParaRPr>
          </a:p>
        </p:txBody>
      </p:sp>
      <p:sp>
        <p:nvSpPr>
          <p:cNvPr id="166" name="Google Shape;166;p33"/>
          <p:cNvSpPr txBox="1"/>
          <p:nvPr>
            <p:ph type="title"/>
          </p:nvPr>
        </p:nvSpPr>
        <p:spPr>
          <a:xfrm>
            <a:off x="311700" y="281200"/>
            <a:ext cx="8520600" cy="86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GB" sz="1720"/>
              <a:t>Dampak Alih Fungsi Lahan (Land Use Change) terhadap Peningkatan Suhu Permukaan (LST) Menggunakan Pendekatan Deep Learning</a:t>
            </a:r>
            <a:endParaRPr sz="1720"/>
          </a:p>
          <a:p>
            <a:pPr indent="0" lvl="0" marL="0" rtl="0" algn="l">
              <a:spcBef>
                <a:spcPts val="0"/>
              </a:spcBef>
              <a:spcAft>
                <a:spcPts val="0"/>
              </a:spcAft>
              <a:buSzPts val="990"/>
              <a:buNone/>
            </a:pPr>
            <a:r>
              <a:t/>
            </a:r>
            <a:endParaRPr sz="172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4"/>
          <p:cNvSpPr txBox="1"/>
          <p:nvPr>
            <p:ph type="title"/>
          </p:nvPr>
        </p:nvSpPr>
        <p:spPr>
          <a:xfrm>
            <a:off x="311700" y="2812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GB" sz="1720"/>
              <a:t>Dampak Alih Fungsi Lahan (Land Use Change) terhadap Peningkatan Suhu Permukaan (LST) Menggunakan Pendekatan Deep Learning</a:t>
            </a:r>
            <a:endParaRPr sz="1720"/>
          </a:p>
          <a:p>
            <a:pPr indent="0" lvl="0" marL="0" rtl="0" algn="l">
              <a:spcBef>
                <a:spcPts val="0"/>
              </a:spcBef>
              <a:spcAft>
                <a:spcPts val="0"/>
              </a:spcAft>
              <a:buSzPts val="990"/>
              <a:buNone/>
            </a:pPr>
            <a:r>
              <a:t/>
            </a:r>
            <a:endParaRPr sz="1720"/>
          </a:p>
        </p:txBody>
      </p:sp>
      <p:sp>
        <p:nvSpPr>
          <p:cNvPr id="172" name="Google Shape;172;p34"/>
          <p:cNvSpPr txBox="1"/>
          <p:nvPr>
            <p:ph idx="1" type="body"/>
          </p:nvPr>
        </p:nvSpPr>
        <p:spPr>
          <a:xfrm>
            <a:off x="311700" y="1281675"/>
            <a:ext cx="8520600" cy="3676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GB" sz="1100">
                <a:solidFill>
                  <a:schemeClr val="dk1"/>
                </a:solidFill>
              </a:rPr>
              <a:t>3</a:t>
            </a:r>
            <a:r>
              <a:rPr b="1" lang="en-GB" sz="1100">
                <a:solidFill>
                  <a:schemeClr val="dk1"/>
                </a:solidFill>
              </a:rPr>
              <a:t>. Tujuan Penelitian (Objectives):</a:t>
            </a:r>
            <a:endParaRPr b="1" sz="1100">
              <a:solidFill>
                <a:schemeClr val="dk1"/>
              </a:solidFill>
            </a:endParaRPr>
          </a:p>
          <a:p>
            <a:pPr indent="0" lvl="0" marL="179999" rtl="0" algn="l">
              <a:spcBef>
                <a:spcPts val="1200"/>
              </a:spcBef>
              <a:spcAft>
                <a:spcPts val="0"/>
              </a:spcAft>
              <a:buClr>
                <a:schemeClr val="dk1"/>
              </a:buClr>
              <a:buSzPts val="1100"/>
              <a:buFont typeface="Arial"/>
              <a:buNone/>
            </a:pPr>
            <a:r>
              <a:rPr b="1" lang="en-GB" sz="1100">
                <a:solidFill>
                  <a:schemeClr val="dk1"/>
                </a:solidFill>
              </a:rPr>
              <a:t>a. Robust Data Pipeline:</a:t>
            </a:r>
            <a:r>
              <a:rPr lang="en-GB" sz="1100">
                <a:solidFill>
                  <a:schemeClr val="dk1"/>
                </a:solidFill>
              </a:rPr>
              <a:t> Membangun alur </a:t>
            </a:r>
            <a:r>
              <a:rPr i="1" lang="en-GB" sz="1100">
                <a:solidFill>
                  <a:schemeClr val="dk1"/>
                </a:solidFill>
              </a:rPr>
              <a:t>preprocessing</a:t>
            </a:r>
            <a:r>
              <a:rPr lang="en-GB" sz="1100">
                <a:solidFill>
                  <a:schemeClr val="dk1"/>
                </a:solidFill>
              </a:rPr>
              <a:t> otomatis untuk membersihkan gangguan atmosfer (awan) dan mempersiapkan dataset (tiling/augmentasi) yang siap latih (</a:t>
            </a:r>
            <a:r>
              <a:rPr i="1" lang="en-GB" sz="1100">
                <a:solidFill>
                  <a:schemeClr val="dk1"/>
                </a:solidFill>
              </a:rPr>
              <a:t>training-ready</a:t>
            </a:r>
            <a:r>
              <a:rPr lang="en-GB" sz="1100">
                <a:solidFill>
                  <a:schemeClr val="dk1"/>
                </a:solidFill>
              </a:rPr>
              <a:t>) untuk model Neural Network.</a:t>
            </a:r>
            <a:endParaRPr sz="1100">
              <a:solidFill>
                <a:schemeClr val="dk1"/>
              </a:solidFill>
            </a:endParaRPr>
          </a:p>
          <a:p>
            <a:pPr indent="0" lvl="0" marL="179999" rtl="0" algn="l">
              <a:spcBef>
                <a:spcPts val="1200"/>
              </a:spcBef>
              <a:spcAft>
                <a:spcPts val="0"/>
              </a:spcAft>
              <a:buClr>
                <a:schemeClr val="dk1"/>
              </a:buClr>
              <a:buSzPts val="1100"/>
              <a:buFont typeface="Arial"/>
              <a:buNone/>
            </a:pPr>
            <a:r>
              <a:rPr b="1" lang="en-GB" sz="1100">
                <a:solidFill>
                  <a:schemeClr val="dk1"/>
                </a:solidFill>
              </a:rPr>
              <a:t>b. Multi-class Land Segmentation:</a:t>
            </a:r>
            <a:r>
              <a:rPr lang="en-GB" sz="1100">
                <a:solidFill>
                  <a:schemeClr val="dk1"/>
                </a:solidFill>
              </a:rPr>
              <a:t> Melatih model </a:t>
            </a:r>
            <a:r>
              <a:rPr i="1" lang="en-GB" sz="1100">
                <a:solidFill>
                  <a:schemeClr val="dk1"/>
                </a:solidFill>
              </a:rPr>
              <a:t>Computer Vision</a:t>
            </a:r>
            <a:r>
              <a:rPr lang="en-GB" sz="1100">
                <a:solidFill>
                  <a:schemeClr val="dk1"/>
                </a:solidFill>
              </a:rPr>
              <a:t> (U-Net/DeepLab) untuk memetakan tutupan lahan menjadi 4 kelas krusial: Hutan, Perkebunan (Sawit), Lahan Terbuka, dan Air.</a:t>
            </a:r>
            <a:endParaRPr sz="1100">
              <a:solidFill>
                <a:schemeClr val="dk1"/>
              </a:solidFill>
            </a:endParaRPr>
          </a:p>
          <a:p>
            <a:pPr indent="0" lvl="0" marL="179999" rtl="0" algn="l">
              <a:spcBef>
                <a:spcPts val="1200"/>
              </a:spcBef>
              <a:spcAft>
                <a:spcPts val="1200"/>
              </a:spcAft>
              <a:buNone/>
            </a:pPr>
            <a:r>
              <a:rPr b="1" lang="en-GB" sz="1100">
                <a:solidFill>
                  <a:schemeClr val="dk1"/>
                </a:solidFill>
              </a:rPr>
              <a:t>c. LST-Land Cover Regression:</a:t>
            </a:r>
            <a:r>
              <a:rPr lang="en-GB" sz="1100">
                <a:solidFill>
                  <a:schemeClr val="dk1"/>
                </a:solidFill>
              </a:rPr>
              <a:t> Mengembangkan model </a:t>
            </a:r>
            <a:r>
              <a:rPr i="1" lang="en-GB" sz="1100">
                <a:solidFill>
                  <a:schemeClr val="dk1"/>
                </a:solidFill>
              </a:rPr>
              <a:t>Deep Learning</a:t>
            </a:r>
            <a:r>
              <a:rPr lang="en-GB" sz="1100">
                <a:solidFill>
                  <a:schemeClr val="dk1"/>
                </a:solidFill>
              </a:rPr>
              <a:t> kedua yang mempelajari hubungan kausalitas: </a:t>
            </a:r>
            <a:r>
              <a:rPr i="1" lang="en-GB" sz="1100">
                <a:solidFill>
                  <a:schemeClr val="dk1"/>
                </a:solidFill>
              </a:rPr>
              <a:t>"Bagaimana perubahan piksel tutupan lahan mempengaruhi nilai piksel suhu (LST)?"</a:t>
            </a:r>
            <a:r>
              <a:rPr lang="en-GB" sz="1100">
                <a:solidFill>
                  <a:schemeClr val="dk1"/>
                </a:solidFill>
              </a:rPr>
              <a:t> untuk mengkuantifikasi kenaikan derajat suhu.</a:t>
            </a:r>
            <a:endParaRPr b="1" sz="11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5"/>
          <p:cNvSpPr txBox="1"/>
          <p:nvPr>
            <p:ph type="title"/>
          </p:nvPr>
        </p:nvSpPr>
        <p:spPr>
          <a:xfrm>
            <a:off x="311700" y="281200"/>
            <a:ext cx="8520600" cy="88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GB" sz="1720"/>
              <a:t>Dampak Alih Fungsi Lahan (Land Use Change) terhadap Peningkatan Suhu Permukaan (LST) Menggunakan Pendekatan Deep Learning</a:t>
            </a:r>
            <a:endParaRPr sz="1720"/>
          </a:p>
          <a:p>
            <a:pPr indent="0" lvl="0" marL="0" rtl="0" algn="l">
              <a:spcBef>
                <a:spcPts val="0"/>
              </a:spcBef>
              <a:spcAft>
                <a:spcPts val="0"/>
              </a:spcAft>
              <a:buSzPts val="990"/>
              <a:buNone/>
            </a:pPr>
            <a:r>
              <a:t/>
            </a:r>
            <a:endParaRPr sz="1720"/>
          </a:p>
        </p:txBody>
      </p:sp>
      <p:sp>
        <p:nvSpPr>
          <p:cNvPr id="178" name="Google Shape;178;p35"/>
          <p:cNvSpPr txBox="1"/>
          <p:nvPr>
            <p:ph idx="1" type="body"/>
          </p:nvPr>
        </p:nvSpPr>
        <p:spPr>
          <a:xfrm>
            <a:off x="311700" y="1170925"/>
            <a:ext cx="8726400" cy="3713400"/>
          </a:xfrm>
          <a:prstGeom prst="rect">
            <a:avLst/>
          </a:prstGeom>
        </p:spPr>
        <p:txBody>
          <a:bodyPr anchorCtr="0" anchor="t" bIns="91425" lIns="91425" spcFirstLastPara="1" rIns="91425" wrap="square" tIns="91425">
            <a:normAutofit fontScale="77500" lnSpcReduction="20000"/>
          </a:bodyPr>
          <a:lstStyle/>
          <a:p>
            <a:pPr indent="0" lvl="0" marL="0" rtl="0" algn="l">
              <a:lnSpc>
                <a:spcPct val="115000"/>
              </a:lnSpc>
              <a:spcBef>
                <a:spcPts val="1200"/>
              </a:spcBef>
              <a:spcAft>
                <a:spcPts val="0"/>
              </a:spcAft>
              <a:buNone/>
            </a:pPr>
            <a:r>
              <a:rPr b="1" lang="en-GB" sz="1100">
                <a:solidFill>
                  <a:schemeClr val="dk1"/>
                </a:solidFill>
              </a:rPr>
              <a:t>4</a:t>
            </a:r>
            <a:r>
              <a:rPr b="1" lang="en-GB" sz="1100">
                <a:solidFill>
                  <a:schemeClr val="dk1"/>
                </a:solidFill>
              </a:rPr>
              <a:t>. Pembagian Peran &amp; Lingkup Teknis:</a:t>
            </a:r>
            <a:endParaRPr b="1" sz="1100">
              <a:solidFill>
                <a:schemeClr val="dk1"/>
              </a:solidFill>
            </a:endParaRPr>
          </a:p>
          <a:p>
            <a:pPr indent="0" lvl="0" marL="0" rtl="0" algn="l">
              <a:spcBef>
                <a:spcPts val="1200"/>
              </a:spcBef>
              <a:spcAft>
                <a:spcPts val="0"/>
              </a:spcAft>
              <a:buNone/>
            </a:pPr>
            <a:r>
              <a:rPr b="1" lang="en-GB" sz="1100">
                <a:solidFill>
                  <a:schemeClr val="dk1"/>
                </a:solidFill>
              </a:rPr>
              <a:t>1. Anggota 1: Data Engineer (Satellite Preprocessing Pipeline)</a:t>
            </a:r>
            <a:endParaRPr b="1" sz="1100">
              <a:solidFill>
                <a:schemeClr val="dk1"/>
              </a:solidFill>
            </a:endParaRPr>
          </a:p>
          <a:p>
            <a:pPr indent="-282733" lvl="0" marL="457200" rtl="0" algn="l">
              <a:spcBef>
                <a:spcPts val="1200"/>
              </a:spcBef>
              <a:spcAft>
                <a:spcPts val="0"/>
              </a:spcAft>
              <a:buClr>
                <a:schemeClr val="dk1"/>
              </a:buClr>
              <a:buSzPct val="100000"/>
              <a:buChar char="●"/>
            </a:pPr>
            <a:r>
              <a:rPr i="1" lang="en-GB" sz="1100">
                <a:solidFill>
                  <a:schemeClr val="dk1"/>
                </a:solidFill>
              </a:rPr>
              <a:t>Tugas Utama:</a:t>
            </a:r>
            <a:r>
              <a:rPr lang="en-GB" sz="1100">
                <a:solidFill>
                  <a:schemeClr val="dk1"/>
                </a:solidFill>
              </a:rPr>
              <a:t> Menyiapkan Dataset yang bersih untuk Model AI.</a:t>
            </a:r>
            <a:endParaRPr sz="1100">
              <a:solidFill>
                <a:schemeClr val="dk1"/>
              </a:solidFill>
            </a:endParaRPr>
          </a:p>
          <a:p>
            <a:pPr indent="-282733" lvl="0" marL="457200" rtl="0" algn="l">
              <a:spcBef>
                <a:spcPts val="0"/>
              </a:spcBef>
              <a:spcAft>
                <a:spcPts val="0"/>
              </a:spcAft>
              <a:buClr>
                <a:schemeClr val="dk1"/>
              </a:buClr>
              <a:buSzPct val="100000"/>
              <a:buChar char="●"/>
            </a:pPr>
            <a:r>
              <a:rPr b="1" lang="en-GB" sz="1100">
                <a:solidFill>
                  <a:schemeClr val="dk1"/>
                </a:solidFill>
              </a:rPr>
              <a:t>Cleaning:</a:t>
            </a:r>
            <a:r>
              <a:rPr lang="en-GB" sz="1100">
                <a:solidFill>
                  <a:schemeClr val="dk1"/>
                </a:solidFill>
              </a:rPr>
              <a:t> Melakukan </a:t>
            </a:r>
            <a:r>
              <a:rPr i="1" lang="en-GB" sz="1100">
                <a:solidFill>
                  <a:schemeClr val="dk1"/>
                </a:solidFill>
              </a:rPr>
              <a:t>Cloud Masking</a:t>
            </a:r>
            <a:r>
              <a:rPr lang="en-GB" sz="1100">
                <a:solidFill>
                  <a:schemeClr val="dk1"/>
                </a:solidFill>
              </a:rPr>
              <a:t> (membuang pixel awan) dan Koreksi Radiometrik agar data konsisten.</a:t>
            </a:r>
            <a:endParaRPr sz="1100">
              <a:solidFill>
                <a:schemeClr val="dk1"/>
              </a:solidFill>
            </a:endParaRPr>
          </a:p>
          <a:p>
            <a:pPr indent="-282733" lvl="0" marL="457200" rtl="0" algn="l">
              <a:spcBef>
                <a:spcPts val="0"/>
              </a:spcBef>
              <a:spcAft>
                <a:spcPts val="0"/>
              </a:spcAft>
              <a:buClr>
                <a:schemeClr val="dk1"/>
              </a:buClr>
              <a:buSzPct val="100000"/>
              <a:buChar char="●"/>
            </a:pPr>
            <a:r>
              <a:rPr b="1" lang="en-GB" sz="1100">
                <a:solidFill>
                  <a:schemeClr val="dk1"/>
                </a:solidFill>
              </a:rPr>
              <a:t>Data Engineering:</a:t>
            </a:r>
            <a:r>
              <a:rPr lang="en-GB" sz="1100">
                <a:solidFill>
                  <a:schemeClr val="dk1"/>
                </a:solidFill>
              </a:rPr>
              <a:t> Melakukan </a:t>
            </a:r>
            <a:r>
              <a:rPr i="1" lang="en-GB" sz="1100">
                <a:solidFill>
                  <a:schemeClr val="dk1"/>
                </a:solidFill>
              </a:rPr>
              <a:t>Tiling</a:t>
            </a:r>
            <a:r>
              <a:rPr lang="en-GB" sz="1100">
                <a:solidFill>
                  <a:schemeClr val="dk1"/>
                </a:solidFill>
              </a:rPr>
              <a:t> (memotong citra besar menjadi </a:t>
            </a:r>
            <a:r>
              <a:rPr i="1" lang="en-GB" sz="1100">
                <a:solidFill>
                  <a:schemeClr val="dk1"/>
                </a:solidFill>
              </a:rPr>
              <a:t>patch</a:t>
            </a:r>
            <a:r>
              <a:rPr lang="en-GB" sz="1100">
                <a:solidFill>
                  <a:schemeClr val="dk1"/>
                </a:solidFill>
              </a:rPr>
              <a:t> kecil misal 256x256 px), </a:t>
            </a:r>
            <a:r>
              <a:rPr i="1" lang="en-GB" sz="1100">
                <a:solidFill>
                  <a:schemeClr val="dk1"/>
                </a:solidFill>
              </a:rPr>
              <a:t>Pairing</a:t>
            </a:r>
            <a:r>
              <a:rPr lang="en-GB" sz="1100">
                <a:solidFill>
                  <a:schemeClr val="dk1"/>
                </a:solidFill>
              </a:rPr>
              <a:t> (memastikan data Optik, Termal, dan Label sejajar koordinatnya), dan </a:t>
            </a:r>
            <a:r>
              <a:rPr i="1" lang="en-GB" sz="1100">
                <a:solidFill>
                  <a:schemeClr val="dk1"/>
                </a:solidFill>
              </a:rPr>
              <a:t>Augmentation</a:t>
            </a:r>
            <a:r>
              <a:rPr lang="en-GB" sz="1100">
                <a:solidFill>
                  <a:schemeClr val="dk1"/>
                </a:solidFill>
              </a:rPr>
              <a:t> (memperbanyak data).</a:t>
            </a:r>
            <a:endParaRPr sz="1100">
              <a:solidFill>
                <a:schemeClr val="dk1"/>
              </a:solidFill>
            </a:endParaRPr>
          </a:p>
          <a:p>
            <a:pPr indent="-282733" lvl="0" marL="457200" rtl="0" algn="l">
              <a:spcBef>
                <a:spcPts val="0"/>
              </a:spcBef>
              <a:spcAft>
                <a:spcPts val="0"/>
              </a:spcAft>
              <a:buClr>
                <a:schemeClr val="dk1"/>
              </a:buClr>
              <a:buSzPct val="100000"/>
              <a:buChar char="●"/>
            </a:pPr>
            <a:r>
              <a:rPr i="1" lang="en-GB" sz="1100">
                <a:solidFill>
                  <a:schemeClr val="dk1"/>
                </a:solidFill>
              </a:rPr>
              <a:t>Output:</a:t>
            </a:r>
            <a:r>
              <a:rPr lang="en-GB" sz="1100">
                <a:solidFill>
                  <a:schemeClr val="dk1"/>
                </a:solidFill>
              </a:rPr>
              <a:t> Dataset bersih (.npy / .tfrecord) yang siap masuk ke codingan Anggota 2 &amp; 3.</a:t>
            </a:r>
            <a:endParaRPr sz="1100">
              <a:solidFill>
                <a:schemeClr val="dk1"/>
              </a:solidFill>
            </a:endParaRPr>
          </a:p>
          <a:p>
            <a:pPr indent="0" lvl="0" marL="0" rtl="0" algn="l">
              <a:spcBef>
                <a:spcPts val="1200"/>
              </a:spcBef>
              <a:spcAft>
                <a:spcPts val="0"/>
              </a:spcAft>
              <a:buNone/>
            </a:pPr>
            <a:r>
              <a:rPr b="1" lang="en-GB" sz="1100">
                <a:solidFill>
                  <a:schemeClr val="dk1"/>
                </a:solidFill>
              </a:rPr>
              <a:t>2. Anggota 2: Computer Vision Engineer (Semantic Segmentation)</a:t>
            </a:r>
            <a:endParaRPr b="1" sz="1100">
              <a:solidFill>
                <a:schemeClr val="dk1"/>
              </a:solidFill>
            </a:endParaRPr>
          </a:p>
          <a:p>
            <a:pPr indent="-282733" lvl="0" marL="457200" rtl="0" algn="l">
              <a:spcBef>
                <a:spcPts val="1200"/>
              </a:spcBef>
              <a:spcAft>
                <a:spcPts val="0"/>
              </a:spcAft>
              <a:buClr>
                <a:schemeClr val="dk1"/>
              </a:buClr>
              <a:buSzPct val="100000"/>
              <a:buChar char="●"/>
            </a:pPr>
            <a:r>
              <a:rPr i="1" lang="en-GB" sz="1100">
                <a:solidFill>
                  <a:schemeClr val="dk1"/>
                </a:solidFill>
              </a:rPr>
              <a:t>Tugas Utama:</a:t>
            </a:r>
            <a:r>
              <a:rPr lang="en-GB" sz="1100">
                <a:solidFill>
                  <a:schemeClr val="dk1"/>
                </a:solidFill>
              </a:rPr>
              <a:t> Mengklasifikasi Tutupan Lahan</a:t>
            </a:r>
            <a:endParaRPr sz="1100">
              <a:solidFill>
                <a:schemeClr val="dk1"/>
              </a:solidFill>
            </a:endParaRPr>
          </a:p>
          <a:p>
            <a:pPr indent="-282733" lvl="0" marL="457200" rtl="0" algn="l">
              <a:spcBef>
                <a:spcPts val="0"/>
              </a:spcBef>
              <a:spcAft>
                <a:spcPts val="0"/>
              </a:spcAft>
              <a:buClr>
                <a:schemeClr val="dk1"/>
              </a:buClr>
              <a:buSzPct val="100000"/>
              <a:buChar char="●"/>
            </a:pPr>
            <a:r>
              <a:rPr b="1" lang="en-GB" sz="1100">
                <a:solidFill>
                  <a:schemeClr val="dk1"/>
                </a:solidFill>
              </a:rPr>
              <a:t>Modeling:</a:t>
            </a:r>
            <a:r>
              <a:rPr lang="en-GB" sz="1100">
                <a:solidFill>
                  <a:schemeClr val="dk1"/>
                </a:solidFill>
              </a:rPr>
              <a:t> Mengembangkan arsitektur </a:t>
            </a:r>
            <a:r>
              <a:rPr b="1" lang="en-GB" sz="1100">
                <a:solidFill>
                  <a:schemeClr val="dk1"/>
                </a:solidFill>
              </a:rPr>
              <a:t>U-Net</a:t>
            </a:r>
            <a:r>
              <a:rPr lang="en-GB" sz="1100">
                <a:solidFill>
                  <a:schemeClr val="dk1"/>
                </a:solidFill>
              </a:rPr>
              <a:t> atau </a:t>
            </a:r>
            <a:r>
              <a:rPr b="1" lang="en-GB" sz="1100">
                <a:solidFill>
                  <a:schemeClr val="dk1"/>
                </a:solidFill>
              </a:rPr>
              <a:t>DeepLabV3+</a:t>
            </a:r>
            <a:r>
              <a:rPr lang="en-GB" sz="1100">
                <a:solidFill>
                  <a:schemeClr val="dk1"/>
                </a:solidFill>
              </a:rPr>
              <a:t>.</a:t>
            </a:r>
            <a:endParaRPr sz="1100">
              <a:solidFill>
                <a:schemeClr val="dk1"/>
              </a:solidFill>
            </a:endParaRPr>
          </a:p>
          <a:p>
            <a:pPr indent="-282733" lvl="0" marL="457200" rtl="0" algn="l">
              <a:spcBef>
                <a:spcPts val="0"/>
              </a:spcBef>
              <a:spcAft>
                <a:spcPts val="0"/>
              </a:spcAft>
              <a:buClr>
                <a:schemeClr val="dk1"/>
              </a:buClr>
              <a:buSzPct val="100000"/>
              <a:buChar char="●"/>
            </a:pPr>
            <a:r>
              <a:rPr b="1" lang="en-GB" sz="1100">
                <a:solidFill>
                  <a:schemeClr val="dk1"/>
                </a:solidFill>
              </a:rPr>
              <a:t>Training:</a:t>
            </a:r>
            <a:r>
              <a:rPr lang="en-GB" sz="1100">
                <a:solidFill>
                  <a:schemeClr val="dk1"/>
                </a:solidFill>
              </a:rPr>
              <a:t> Melatih model menggunakan data dari Anggota 1 untuk membedakan </a:t>
            </a:r>
            <a:r>
              <a:rPr b="1" lang="en-GB" sz="1100">
                <a:solidFill>
                  <a:schemeClr val="dk1"/>
                </a:solidFill>
              </a:rPr>
              <a:t>Hutan vs Sawit vs Tanah</a:t>
            </a:r>
            <a:r>
              <a:rPr lang="en-GB" sz="1100">
                <a:solidFill>
                  <a:schemeClr val="dk1"/>
                </a:solidFill>
              </a:rPr>
              <a:t>. (Fokus: Akurasi mIoU setinggi mungkin).</a:t>
            </a:r>
            <a:endParaRPr sz="1100">
              <a:solidFill>
                <a:schemeClr val="dk1"/>
              </a:solidFill>
            </a:endParaRPr>
          </a:p>
          <a:p>
            <a:pPr indent="-282733" lvl="0" marL="457200" rtl="0" algn="l">
              <a:spcBef>
                <a:spcPts val="0"/>
              </a:spcBef>
              <a:spcAft>
                <a:spcPts val="0"/>
              </a:spcAft>
              <a:buClr>
                <a:schemeClr val="dk1"/>
              </a:buClr>
              <a:buSzPct val="100000"/>
              <a:buChar char="●"/>
            </a:pPr>
            <a:r>
              <a:rPr i="1" lang="en-GB" sz="1100">
                <a:solidFill>
                  <a:schemeClr val="dk1"/>
                </a:solidFill>
              </a:rPr>
              <a:t>Output:</a:t>
            </a:r>
            <a:r>
              <a:rPr lang="en-GB" sz="1100">
                <a:solidFill>
                  <a:schemeClr val="dk1"/>
                </a:solidFill>
              </a:rPr>
              <a:t> Peta Tutupan Lahan Digital (Predicted Masks).</a:t>
            </a:r>
            <a:endParaRPr sz="1100">
              <a:solidFill>
                <a:schemeClr val="dk1"/>
              </a:solidFill>
            </a:endParaRPr>
          </a:p>
          <a:p>
            <a:pPr indent="0" lvl="0" marL="0" rtl="0" algn="l">
              <a:spcBef>
                <a:spcPts val="1200"/>
              </a:spcBef>
              <a:spcAft>
                <a:spcPts val="0"/>
              </a:spcAft>
              <a:buNone/>
            </a:pPr>
            <a:r>
              <a:rPr b="1" lang="en-GB" sz="1100">
                <a:solidFill>
                  <a:schemeClr val="dk1"/>
                </a:solidFill>
              </a:rPr>
              <a:t>3. Anggota 3: AI Researcher (Spatial Regression &amp; LST)</a:t>
            </a:r>
            <a:endParaRPr b="1" sz="1100">
              <a:solidFill>
                <a:schemeClr val="dk1"/>
              </a:solidFill>
            </a:endParaRPr>
          </a:p>
          <a:p>
            <a:pPr indent="-282733" lvl="0" marL="457200" rtl="0" algn="l">
              <a:spcBef>
                <a:spcPts val="1200"/>
              </a:spcBef>
              <a:spcAft>
                <a:spcPts val="0"/>
              </a:spcAft>
              <a:buClr>
                <a:schemeClr val="dk1"/>
              </a:buClr>
              <a:buSzPct val="100000"/>
              <a:buChar char="●"/>
            </a:pPr>
            <a:r>
              <a:rPr i="1" lang="en-GB" sz="1100">
                <a:solidFill>
                  <a:schemeClr val="dk1"/>
                </a:solidFill>
              </a:rPr>
              <a:t>Tugas Utama:</a:t>
            </a:r>
            <a:r>
              <a:rPr lang="en-GB" sz="1100">
                <a:solidFill>
                  <a:schemeClr val="dk1"/>
                </a:solidFill>
              </a:rPr>
              <a:t> Memprediksi LST tutupan lahan.</a:t>
            </a:r>
            <a:endParaRPr sz="1100">
              <a:solidFill>
                <a:schemeClr val="dk1"/>
              </a:solidFill>
            </a:endParaRPr>
          </a:p>
          <a:p>
            <a:pPr indent="-282733" lvl="0" marL="457200" rtl="0" algn="l">
              <a:spcBef>
                <a:spcPts val="0"/>
              </a:spcBef>
              <a:spcAft>
                <a:spcPts val="0"/>
              </a:spcAft>
              <a:buClr>
                <a:schemeClr val="dk1"/>
              </a:buClr>
              <a:buSzPct val="100000"/>
              <a:buChar char="●"/>
            </a:pPr>
            <a:r>
              <a:rPr b="1" lang="en-GB" sz="1100">
                <a:solidFill>
                  <a:schemeClr val="dk1"/>
                </a:solidFill>
              </a:rPr>
              <a:t>LST Extraction:</a:t>
            </a:r>
            <a:r>
              <a:rPr lang="en-GB" sz="1100">
                <a:solidFill>
                  <a:schemeClr val="dk1"/>
                </a:solidFill>
              </a:rPr>
              <a:t> Mengolah data Band Termal menjadi nilai suhu Celcius (bukan sekadar DN value).</a:t>
            </a:r>
            <a:endParaRPr sz="1100">
              <a:solidFill>
                <a:schemeClr val="dk1"/>
              </a:solidFill>
            </a:endParaRPr>
          </a:p>
          <a:p>
            <a:pPr indent="-282733" lvl="0" marL="457200" rtl="0" algn="l">
              <a:spcBef>
                <a:spcPts val="0"/>
              </a:spcBef>
              <a:spcAft>
                <a:spcPts val="0"/>
              </a:spcAft>
              <a:buClr>
                <a:schemeClr val="dk1"/>
              </a:buClr>
              <a:buSzPct val="100000"/>
              <a:buChar char="●"/>
            </a:pPr>
            <a:r>
              <a:rPr b="1" lang="en-GB" sz="1100">
                <a:solidFill>
                  <a:schemeClr val="dk1"/>
                </a:solidFill>
              </a:rPr>
              <a:t>Regression Modeling:</a:t>
            </a:r>
            <a:r>
              <a:rPr lang="en-GB" sz="1100">
                <a:solidFill>
                  <a:schemeClr val="dk1"/>
                </a:solidFill>
              </a:rPr>
              <a:t> Membuat model CNN sederhana yang Input-nya adalah </a:t>
            </a:r>
            <a:r>
              <a:rPr b="1" lang="en-GB" sz="1100">
                <a:solidFill>
                  <a:schemeClr val="dk1"/>
                </a:solidFill>
              </a:rPr>
              <a:t>Peta Tutupan Lahan (dari Anggota 2)</a:t>
            </a:r>
            <a:r>
              <a:rPr lang="en-GB" sz="1100">
                <a:solidFill>
                  <a:schemeClr val="dk1"/>
                </a:solidFill>
              </a:rPr>
              <a:t> dan Output-nya adalah </a:t>
            </a:r>
            <a:r>
              <a:rPr b="1" lang="en-GB" sz="1100">
                <a:solidFill>
                  <a:schemeClr val="dk1"/>
                </a:solidFill>
              </a:rPr>
              <a:t>Prediksi Suhu</a:t>
            </a:r>
            <a:r>
              <a:rPr lang="en-GB" sz="1100">
                <a:solidFill>
                  <a:schemeClr val="dk1"/>
                </a:solidFill>
              </a:rPr>
              <a:t>.</a:t>
            </a:r>
            <a:endParaRPr sz="1100">
              <a:solidFill>
                <a:schemeClr val="dk1"/>
              </a:solidFill>
            </a:endParaRPr>
          </a:p>
          <a:p>
            <a:pPr indent="-282733" lvl="0" marL="457200" rtl="0" algn="l">
              <a:spcBef>
                <a:spcPts val="0"/>
              </a:spcBef>
              <a:spcAft>
                <a:spcPts val="0"/>
              </a:spcAft>
              <a:buClr>
                <a:schemeClr val="dk1"/>
              </a:buClr>
              <a:buSzPct val="100000"/>
              <a:buChar char="●"/>
            </a:pPr>
            <a:r>
              <a:rPr i="1" lang="en-GB" sz="1100">
                <a:solidFill>
                  <a:schemeClr val="dk1"/>
                </a:solidFill>
              </a:rPr>
              <a:t>Analysis:</a:t>
            </a:r>
            <a:r>
              <a:rPr lang="en-GB" sz="1100">
                <a:solidFill>
                  <a:schemeClr val="dk1"/>
                </a:solidFill>
              </a:rPr>
              <a:t> Menghitung selisih suhu rata-rata: </a:t>
            </a:r>
            <a:r>
              <a:rPr i="1" lang="en-GB" sz="1100">
                <a:solidFill>
                  <a:schemeClr val="dk1"/>
                </a:solidFill>
              </a:rPr>
              <a:t>"Berapa derajat bedanya area Hutan dibanding area Sawit?"</a:t>
            </a:r>
            <a:r>
              <a:rPr lang="en-GB" sz="1100">
                <a:solidFill>
                  <a:schemeClr val="dk1"/>
                </a:solidFill>
              </a:rPr>
              <a:t> (Ini gantiin peran Spatial Analyst, jadi output model langsung menjawab kesimpulan).</a:t>
            </a:r>
            <a:endParaRPr b="1" sz="1100">
              <a:solidFill>
                <a:schemeClr val="dk1"/>
              </a:solidFill>
            </a:endParaRPr>
          </a:p>
          <a:p>
            <a:pPr indent="0" lvl="0" marL="0" rtl="0" algn="l">
              <a:lnSpc>
                <a:spcPct val="115000"/>
              </a:lnSpc>
              <a:spcBef>
                <a:spcPts val="1200"/>
              </a:spcBef>
              <a:spcAft>
                <a:spcPts val="1200"/>
              </a:spcAft>
              <a:buNone/>
            </a:pPr>
            <a:r>
              <a:t/>
            </a:r>
            <a:endParaRPr b="1" sz="11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2" name="Shape 182"/>
        <p:cNvGrpSpPr/>
        <p:nvPr/>
      </p:nvGrpSpPr>
      <p:grpSpPr>
        <a:xfrm>
          <a:off x="0" y="0"/>
          <a:ext cx="0" cy="0"/>
          <a:chOff x="0" y="0"/>
          <a:chExt cx="0" cy="0"/>
        </a:xfrm>
      </p:grpSpPr>
      <p:sp>
        <p:nvSpPr>
          <p:cNvPr id="183" name="Google Shape;183;p36"/>
          <p:cNvSpPr txBox="1"/>
          <p:nvPr>
            <p:ph type="title"/>
          </p:nvPr>
        </p:nvSpPr>
        <p:spPr>
          <a:xfrm>
            <a:off x="311700" y="281200"/>
            <a:ext cx="8520600" cy="88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GB" sz="1720"/>
              <a:t>Dampak Alih Fungsi Lahan (Land Use Change) terhadap Peningkatan Suhu Permukaan (LST) Menggunakan Pendekatan Deep Learning</a:t>
            </a:r>
            <a:endParaRPr sz="1720"/>
          </a:p>
          <a:p>
            <a:pPr indent="0" lvl="0" marL="0" rtl="0" algn="l">
              <a:spcBef>
                <a:spcPts val="0"/>
              </a:spcBef>
              <a:spcAft>
                <a:spcPts val="0"/>
              </a:spcAft>
              <a:buClr>
                <a:schemeClr val="dk1"/>
              </a:buClr>
              <a:buSzPts val="990"/>
              <a:buFont typeface="Arial"/>
              <a:buNone/>
            </a:pPr>
            <a:r>
              <a:t/>
            </a:r>
            <a:endParaRPr sz="1720"/>
          </a:p>
          <a:p>
            <a:pPr indent="0" lvl="0" marL="0" rtl="0" algn="l">
              <a:spcBef>
                <a:spcPts val="0"/>
              </a:spcBef>
              <a:spcAft>
                <a:spcPts val="0"/>
              </a:spcAft>
              <a:buSzPts val="990"/>
              <a:buNone/>
            </a:pPr>
            <a:r>
              <a:t/>
            </a:r>
            <a:endParaRPr sz="1720"/>
          </a:p>
        </p:txBody>
      </p:sp>
      <p:sp>
        <p:nvSpPr>
          <p:cNvPr id="184" name="Google Shape;184;p36"/>
          <p:cNvSpPr txBox="1"/>
          <p:nvPr>
            <p:ph idx="1" type="body"/>
          </p:nvPr>
        </p:nvSpPr>
        <p:spPr>
          <a:xfrm>
            <a:off x="311700" y="1170925"/>
            <a:ext cx="8726400" cy="37134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0"/>
              </a:spcAft>
              <a:buNone/>
            </a:pPr>
            <a:r>
              <a:rPr b="1" lang="en-GB" sz="1100">
                <a:solidFill>
                  <a:schemeClr val="dk1"/>
                </a:solidFill>
              </a:rPr>
              <a:t>5. Alur Pengerjaan</a:t>
            </a:r>
            <a:endParaRPr b="1" sz="13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Supaya kebayang kerjanya:</a:t>
            </a:r>
            <a:endParaRPr sz="1100">
              <a:solidFill>
                <a:schemeClr val="dk1"/>
              </a:solidFill>
            </a:endParaRPr>
          </a:p>
          <a:p>
            <a:pPr indent="-298450" lvl="0" marL="457200" rtl="0" algn="l">
              <a:spcBef>
                <a:spcPts val="1200"/>
              </a:spcBef>
              <a:spcAft>
                <a:spcPts val="0"/>
              </a:spcAft>
              <a:buClr>
                <a:schemeClr val="dk1"/>
              </a:buClr>
              <a:buSzPts val="1100"/>
              <a:buAutoNum type="arabicPeriod"/>
            </a:pPr>
            <a:r>
              <a:rPr b="1" lang="en-GB" sz="1100">
                <a:solidFill>
                  <a:schemeClr val="dk1"/>
                </a:solidFill>
              </a:rPr>
              <a:t>Bulan 1:</a:t>
            </a:r>
            <a:endParaRPr b="1" sz="1100">
              <a:solidFill>
                <a:schemeClr val="dk1"/>
              </a:solidFill>
            </a:endParaRPr>
          </a:p>
          <a:p>
            <a:pPr indent="-298450" lvl="1" marL="914400" rtl="0" algn="l">
              <a:spcBef>
                <a:spcPts val="0"/>
              </a:spcBef>
              <a:spcAft>
                <a:spcPts val="0"/>
              </a:spcAft>
              <a:buClr>
                <a:schemeClr val="dk1"/>
              </a:buClr>
              <a:buSzPts val="1100"/>
              <a:buChar char="○"/>
            </a:pPr>
            <a:r>
              <a:rPr b="1" lang="en-GB" sz="1100">
                <a:solidFill>
                  <a:schemeClr val="dk1"/>
                </a:solidFill>
              </a:rPr>
              <a:t>Anggota 1:</a:t>
            </a:r>
            <a:r>
              <a:rPr lang="en-GB" sz="1100">
                <a:solidFill>
                  <a:schemeClr val="dk1"/>
                </a:solidFill>
              </a:rPr>
              <a:t> Download &amp; Bersihin Data (Pusing di awal, tapi abis itu santai).</a:t>
            </a:r>
            <a:endParaRPr sz="1100">
              <a:solidFill>
                <a:schemeClr val="dk1"/>
              </a:solidFill>
            </a:endParaRPr>
          </a:p>
          <a:p>
            <a:pPr indent="-298450" lvl="1" marL="914400" rtl="0" algn="l">
              <a:spcBef>
                <a:spcPts val="0"/>
              </a:spcBef>
              <a:spcAft>
                <a:spcPts val="0"/>
              </a:spcAft>
              <a:buClr>
                <a:schemeClr val="dk1"/>
              </a:buClr>
              <a:buSzPts val="1100"/>
              <a:buChar char="○"/>
            </a:pPr>
            <a:r>
              <a:rPr b="1" lang="en-GB" sz="1100">
                <a:solidFill>
                  <a:schemeClr val="dk1"/>
                </a:solidFill>
              </a:rPr>
              <a:t>Anggota 2 &amp; 3:</a:t>
            </a:r>
            <a:r>
              <a:rPr lang="en-GB" sz="1100">
                <a:solidFill>
                  <a:schemeClr val="dk1"/>
                </a:solidFill>
              </a:rPr>
              <a:t> Studi literatur &amp; coding </a:t>
            </a:r>
            <a:r>
              <a:rPr i="1" lang="en-GB" sz="1100">
                <a:solidFill>
                  <a:schemeClr val="dk1"/>
                </a:solidFill>
              </a:rPr>
              <a:t>dummy</a:t>
            </a:r>
            <a:r>
              <a:rPr lang="en-GB" sz="1100">
                <a:solidFill>
                  <a:schemeClr val="dk1"/>
                </a:solidFill>
              </a:rPr>
              <a:t> arsitektur (pakai data sampel kecil).</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Bulan 2-3:</a:t>
            </a:r>
            <a:endParaRPr b="1" sz="1100">
              <a:solidFill>
                <a:schemeClr val="dk1"/>
              </a:solidFill>
            </a:endParaRPr>
          </a:p>
          <a:p>
            <a:pPr indent="-298450" lvl="1" marL="914400" rtl="0" algn="l">
              <a:spcBef>
                <a:spcPts val="0"/>
              </a:spcBef>
              <a:spcAft>
                <a:spcPts val="0"/>
              </a:spcAft>
              <a:buClr>
                <a:schemeClr val="dk1"/>
              </a:buClr>
              <a:buSzPts val="1100"/>
              <a:buChar char="○"/>
            </a:pPr>
            <a:r>
              <a:rPr b="1" lang="en-GB" sz="1100">
                <a:solidFill>
                  <a:schemeClr val="dk1"/>
                </a:solidFill>
              </a:rPr>
              <a:t>Anggota 1:</a:t>
            </a:r>
            <a:r>
              <a:rPr lang="en-GB" sz="1100">
                <a:solidFill>
                  <a:schemeClr val="dk1"/>
                </a:solidFill>
              </a:rPr>
              <a:t> Supply data bersih ke teman-teman.</a:t>
            </a:r>
            <a:endParaRPr sz="1100">
              <a:solidFill>
                <a:schemeClr val="dk1"/>
              </a:solidFill>
            </a:endParaRPr>
          </a:p>
          <a:p>
            <a:pPr indent="-298450" lvl="1" marL="914400" rtl="0" algn="l">
              <a:spcBef>
                <a:spcPts val="0"/>
              </a:spcBef>
              <a:spcAft>
                <a:spcPts val="0"/>
              </a:spcAft>
              <a:buClr>
                <a:schemeClr val="dk1"/>
              </a:buClr>
              <a:buSzPts val="1100"/>
              <a:buChar char="○"/>
            </a:pPr>
            <a:r>
              <a:rPr b="1" lang="en-GB" sz="1100">
                <a:solidFill>
                  <a:schemeClr val="dk1"/>
                </a:solidFill>
              </a:rPr>
              <a:t>Anggota 2:</a:t>
            </a:r>
            <a:r>
              <a:rPr lang="en-GB" sz="1100">
                <a:solidFill>
                  <a:schemeClr val="dk1"/>
                </a:solidFill>
              </a:rPr>
              <a:t> Training Model Segmentasi.</a:t>
            </a:r>
            <a:endParaRPr sz="1100">
              <a:solidFill>
                <a:schemeClr val="dk1"/>
              </a:solidFill>
            </a:endParaRPr>
          </a:p>
          <a:p>
            <a:pPr indent="-298450" lvl="1" marL="914400" rtl="0" algn="l">
              <a:spcBef>
                <a:spcPts val="0"/>
              </a:spcBef>
              <a:spcAft>
                <a:spcPts val="0"/>
              </a:spcAft>
              <a:buClr>
                <a:schemeClr val="dk1"/>
              </a:buClr>
              <a:buSzPts val="1100"/>
              <a:buChar char="○"/>
            </a:pPr>
            <a:r>
              <a:rPr b="1" lang="en-GB" sz="1100">
                <a:solidFill>
                  <a:schemeClr val="dk1"/>
                </a:solidFill>
              </a:rPr>
              <a:t>Anggota 3:</a:t>
            </a:r>
            <a:r>
              <a:rPr lang="en-GB" sz="1100">
                <a:solidFill>
                  <a:schemeClr val="dk1"/>
                </a:solidFill>
              </a:rPr>
              <a:t> Training Model Regresi (Sementara pakai Label ESA dulu sebagai input, sambil nunggu Anggota 2 kelar).</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Bulan 4:</a:t>
            </a:r>
            <a:endParaRPr b="1" sz="1100">
              <a:solidFill>
                <a:schemeClr val="dk1"/>
              </a:solidFill>
            </a:endParaRPr>
          </a:p>
          <a:p>
            <a:pPr indent="-298450" lvl="1" marL="914400" rtl="0" algn="l">
              <a:spcBef>
                <a:spcPts val="0"/>
              </a:spcBef>
              <a:spcAft>
                <a:spcPts val="0"/>
              </a:spcAft>
              <a:buClr>
                <a:schemeClr val="dk1"/>
              </a:buClr>
              <a:buSzPts val="1100"/>
              <a:buChar char="○"/>
            </a:pPr>
            <a:r>
              <a:rPr b="1" lang="en-GB" sz="1100">
                <a:solidFill>
                  <a:schemeClr val="dk1"/>
                </a:solidFill>
              </a:rPr>
              <a:t>Integrasi:</a:t>
            </a:r>
            <a:r>
              <a:rPr lang="en-GB" sz="1100">
                <a:solidFill>
                  <a:schemeClr val="dk1"/>
                </a:solidFill>
              </a:rPr>
              <a:t> Hasil prediksi Anggota 2 dimasukkan ke Model Anggota 3.</a:t>
            </a:r>
            <a:endParaRPr sz="1100">
              <a:solidFill>
                <a:schemeClr val="dk1"/>
              </a:solidFill>
            </a:endParaRPr>
          </a:p>
          <a:p>
            <a:pPr indent="-298450" lvl="1" marL="914400" rtl="0" algn="l">
              <a:spcBef>
                <a:spcPts val="0"/>
              </a:spcBef>
              <a:spcAft>
                <a:spcPts val="0"/>
              </a:spcAft>
              <a:buClr>
                <a:schemeClr val="dk1"/>
              </a:buClr>
              <a:buSzPts val="1100"/>
              <a:buChar char="○"/>
            </a:pPr>
            <a:r>
              <a:rPr b="1" lang="en-GB" sz="1100">
                <a:solidFill>
                  <a:schemeClr val="dk1"/>
                </a:solidFill>
              </a:rPr>
              <a:t>Analisis:</a:t>
            </a:r>
            <a:r>
              <a:rPr lang="en-GB" sz="1100">
                <a:solidFill>
                  <a:schemeClr val="dk1"/>
                </a:solidFill>
              </a:rPr>
              <a:t> Tarik kesimpulan bareng-bareng.</a:t>
            </a:r>
            <a:endParaRPr b="1"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